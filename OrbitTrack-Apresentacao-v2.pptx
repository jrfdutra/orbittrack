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frentes: responsividade do portal e do painel, nova área de produtos/consumo e o modo AR imersivo do passaporte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Enquadramento: reduzir suporte manual, criar prova de autenticidade e dar contexto visual antes da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cliente final nunca toca nas tabelas: apenas nas três RPC públicas (encomenda, peça e certificado).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Dashboard: KPIs ligados por contagem exata na tabela de encomendas, com estados padrão configuráveis.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ação é otimista na UI e confirmada no servidor: estado grava em encomendas e em historico_estados.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Breakpoint md: tabela escondida, cards visíveis. Mesma fonte de dados, sem duplicar lógica.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Produtos servem de base ao formulário de encomenda; os carretéis permitem abater consumo em segundos após cada impressão.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portal é 100% público e alimentado por obter_encomenda_publica(token), que devolve apenas os dados expostos.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Fluxo: upload .glb na encomenda → useGLTF no Canvas → botão AR abre getUserMedia com facingMode environment e expande o viewer para ecrã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verificação é independente do vendedor: qualquer pessoa com o código confirma autenticidade e origem.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cores escolhidas alimentam a variável corPrimaria usada no portal, no cabeçalho e nos selos.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Testado em 375×667, 390×844 e 768×1024; o painel usa drawer com overlay e o portal empilha secções.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service_role no front-end: a anon key só executa funções marcadas como públicas e as políticas RLS.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Vercel serve dist/ com rewrite para index.html, garantindo que /acompanhar/:token e /peca/:token funcionam em refresh direto.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Fecho: pedir decisão sobre persistência de produtos/consumos e sobre subdomínio por oficina.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645920"/>
            <a:ext cx="6583680" cy="6583680"/>
          </a:xfrm>
          <a:prstGeom prst="ellipse">
            <a:avLst/>
          </a:prstGeom>
          <a:solidFill>
            <a:srgbClr val="161E3A"/>
          </a:solidFill>
          <a:ln w="12700">
            <a:solidFill>
              <a:srgbClr val="16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-365760"/>
            <a:ext cx="4206240" cy="4206240"/>
          </a:xfrm>
          <a:prstGeom prst="ellipse">
            <a:avLst/>
          </a:prstGeom>
          <a:solidFill>
            <a:srgbClr val="221F52"/>
          </a:solidFill>
          <a:ln w="12700">
            <a:solidFill>
              <a:srgbClr val="221F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1313078"/>
            <a:ext cx="1508760" cy="875081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0" y="2188159"/>
            <a:ext cx="1829" cy="1750162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195560" y="3938321"/>
            <a:ext cx="1508760" cy="875081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3938321"/>
            <a:ext cx="1508760" cy="875081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0" y="2188159"/>
            <a:ext cx="1829" cy="1750162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8686800" y="1313078"/>
            <a:ext cx="1508760" cy="875081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195560" y="2188159"/>
            <a:ext cx="1508760" cy="875081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95560" y="3063240"/>
            <a:ext cx="1829" cy="1750162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2188159"/>
            <a:ext cx="1508760" cy="875081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5230368"/>
            <a:ext cx="2103120" cy="201168"/>
          </a:xfrm>
          <a:prstGeom prst="ellipse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86868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1E2749"/>
          </a:solidFill>
          <a:ln w="12700">
            <a:solidFill>
              <a:srgbClr val="1E27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86868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  ·  OUTUBRO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" y="1298448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868680" y="2267712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Rastreio em tempo real, certificação digital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visualização 3D / AR para estúdios de impressão 3D.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6112" y="3401568"/>
            <a:ext cx="1371600" cy="1829"/>
          </a:xfrm>
          <a:prstGeom prst="line">
            <a:avLst/>
          </a:prstGeom>
          <a:noFill/>
          <a:ln w="38100">
            <a:solidFill>
              <a:srgbClr val="4F46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767328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1E2749"/>
          </a:solidFill>
          <a:ln w="12700">
            <a:solidFill>
              <a:srgbClr val="1E27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767328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mobile-first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80360" y="3767328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1E2749"/>
          </a:solidFill>
          <a:ln w="12700">
            <a:solidFill>
              <a:srgbClr val="1E27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0360" y="3767328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Passaporte 3D + AR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92040" y="37673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E2749"/>
          </a:solidFill>
          <a:ln w="12700">
            <a:solidFill>
              <a:srgbClr val="1E27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76732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Certificado verificável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68680" y="46177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WHITE-LABEL SAAS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68680" y="48463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 ·  TypeScript  ·  Supabase  ·  Tailwind v4  ·  Vercel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Apresentação da plataforma e simulação das funcionalidades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NOVIDADES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mudou nesta versão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Quatro frentes de evolução: mobilidade, operação, stock e experiência imersiva do cliente.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385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26464" y="1938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público mobile-first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26464" y="2267712"/>
            <a:ext cx="43159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Rastreio, peças e certificados redesenhados para ecrãs de telemóvel, com timeline e cartões de leitura imediata.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44768" y="1737360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45936" y="19385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1152" y="1938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de encomendas adaptativa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31152" y="2267712"/>
            <a:ext cx="43159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tabela do painel transforma-se em cartões touch-friendly abaixo de 768 px — sem scroll horizontal nem zoom.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40233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26464" y="40233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 de produtos &amp; consumo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26464" y="4352544"/>
            <a:ext cx="43159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Produtos pré-definidos com peso, tempo e preço; carretéis de filamento com barra de stock e abate rápido de consumo.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44768" y="3822192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45936" y="40233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31152" y="40233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Passaporte 3D com AR em ecrã inteiro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31152" y="4352544"/>
            <a:ext cx="43159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câmara abre em modo imersivo (fixed inset-0) com o modelo sobreposto ao ambiente real e escala 1:1.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6382512"/>
            <a:ext cx="10911535" cy="1829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· Plataforma de rastreio e certificação para impressão 3D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81425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 ·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problema que a plataforma resolve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Oficinas de impressão 3D vendem por WhatsApp e perdem tempo a responder "como está a minha encomenda?".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892040" cy="3703320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9339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933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96112" y="251460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45059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visibilidade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70432" y="268833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cliente pergunta o estado por mensagem; a resposta é manual e repetitiva.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96112" y="347472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4107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Provas frágeis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364845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Nada comprova que a peça é original nem quem a produziu.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6112" y="443484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37083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contexto visual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70432" y="460857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comprador só vê a peça quando a recebe — não sabe escala nem acabamento.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23560" y="3310128"/>
            <a:ext cx="868680" cy="384048"/>
          </a:xfrm>
          <a:prstGeom prst="rightArrow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783080"/>
            <a:ext cx="4983480" cy="3703320"/>
          </a:xfrm>
          <a:prstGeom prst="roundRect">
            <a:avLst>
              <a:gd name="adj" fmla="val 296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199339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9933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 ORBITTRACK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39712" y="251460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14032" y="24505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secreto por encomenda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14032" y="268833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URL único mostra estado, previsão, histórico e peças — sem login.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39712" y="347472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14032" y="341071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Certificado com código 8 dígitos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14032" y="364845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Verificação pública e independente da autenticidade de cada peça.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39712" y="443484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14032" y="437083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Passaporte 3D + AR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14032" y="460857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cliente vê o modelo na câmara do telemóvel, em tamanho real.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" y="6382512"/>
            <a:ext cx="10911535" cy="1829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· Plataforma de rastreio e certificação para impressão 3D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81425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 ·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a plataforma está montada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Front-end estático na Vercel, autenticação e dados no Supabase, exposição pública controlada por RPC.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04288"/>
            <a:ext cx="1417320" cy="822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871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Vendedor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autenticado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Tailwind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2304288"/>
            <a:ext cx="1417320" cy="822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4871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dados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03320" y="2788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+ RLS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 de .glb e fotos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55080" y="21488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37960" y="2304288"/>
            <a:ext cx="1417320" cy="822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4871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Camada pública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2788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RPC security definer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funções seguras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89720" y="21488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72600" y="2304288"/>
            <a:ext cx="1417320" cy="822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24871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 final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72600" y="2788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por link secreto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conta, sem login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90672" y="2880360"/>
            <a:ext cx="384048" cy="21945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25312" y="2880360"/>
            <a:ext cx="384048" cy="21945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59952" y="2880360"/>
            <a:ext cx="384048" cy="21945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160520"/>
            <a:ext cx="10835640" cy="1874520"/>
          </a:xfrm>
          <a:prstGeom prst="roundRect">
            <a:avLst>
              <a:gd name="adj" fmla="val 58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43708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32688" y="459028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Autenticação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32688" y="48463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Auth com triggers de criação de empresa e perfis white-label por utilizador.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98848" y="43708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98848" y="459028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Isolamento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498848" y="48463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 Level Security garante que cada vendedor só vê os seus próprios registos.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65008" y="43708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65008" y="459028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Distribuição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065008" y="48463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automático: push para main → build Vite → CDN global da Vercel.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" y="6382512"/>
            <a:ext cx="10911535" cy="1829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· Plataforma de rastreio e certificação para impressão 3D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81425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 ·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DO VENDEDOR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geral do negócio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Indicadores de volume, tempo de fabrico e reputação, com acesso imediato às encomendas recentes.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2708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719072"/>
            <a:ext cx="10872216" cy="310896"/>
          </a:xfrm>
          <a:prstGeom prst="roundRect">
            <a:avLst>
              <a:gd name="adj" fmla="val 2941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1965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181965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181965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98448" y="1792224"/>
            <a:ext cx="9646920" cy="173736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1792224"/>
            <a:ext cx="9646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orbittrack.vercel.app/painel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76656" y="2039112"/>
            <a:ext cx="2057400" cy="4142232"/>
          </a:xfrm>
          <a:prstGeom prst="rect">
            <a:avLst/>
          </a:prstGeom>
          <a:solidFill>
            <a:srgbClr val="0E1428"/>
          </a:solidFill>
          <a:ln w="12700">
            <a:solidFill>
              <a:srgbClr val="0E14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24028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96112" y="271576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2660904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804672" y="3035808"/>
            <a:ext cx="1801368" cy="274320"/>
          </a:xfrm>
          <a:prstGeom prst="roundRect">
            <a:avLst>
              <a:gd name="adj" fmla="val 23333"/>
            </a:avLst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309981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304495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Encomendas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96112" y="348386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3429000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Produtos &amp; Consumo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96112" y="386791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3813048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Minha Empresa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96112" y="425196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4197096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88036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880360" y="24688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Bem-vindo de volta · Outubro 2026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880360" y="2770632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081528" y="3108960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27832" y="3035808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 encomendas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081528" y="3236976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148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41848" y="2770632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43016" y="3108960"/>
            <a:ext cx="82296" cy="822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3035808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 médio de fabrico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843016" y="3236976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dias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403336" y="2770632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604504" y="310896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50808" y="3035808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Avaliação média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604504" y="3236976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4,8 / 5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2880360" y="3904488"/>
            <a:ext cx="8138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063240" y="405079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Encomendas recentes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063240" y="43616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2026-0148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206240" y="436168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 Ribeiro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784080" y="4334256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84080" y="433425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IMPRIMIR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3063240" y="4690872"/>
            <a:ext cx="7772400" cy="1829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63240" y="478231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2026-0147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206240" y="478231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Miguel Costa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784080" y="475488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84080" y="475488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ACABAMENTO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063240" y="5111496"/>
            <a:ext cx="7772400" cy="1829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63240" y="520293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2026-0146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206240" y="5202936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Sofia Alves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784080" y="517550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84080" y="517550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ENVIADA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3063240" y="5532120"/>
            <a:ext cx="7772400" cy="1829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0080" y="6382512"/>
            <a:ext cx="10911535" cy="1829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· Plataforma de rastreio e certificação para impressão 3D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981425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 ·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OPERAÇÃO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de encomendas em desktop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linha concentra estado, previsão, edição, certificado, link público e envio por WhatsApp.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115568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673352"/>
            <a:ext cx="11100816" cy="310896"/>
          </a:xfrm>
          <a:prstGeom prst="roundRect">
            <a:avLst>
              <a:gd name="adj" fmla="val 2941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7393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17739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177393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288" y="1746504"/>
            <a:ext cx="9875520" cy="173736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1746504"/>
            <a:ext cx="9875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orbittrack.vercel.app/painel/encomendas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" y="21762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de Encomendas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4688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Edite, emita certificados, atualize estados e comunique com clientes.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9692640" y="2212848"/>
            <a:ext cx="1600200" cy="310896"/>
          </a:xfrm>
          <a:prstGeom prst="roundRect">
            <a:avLst>
              <a:gd name="adj" fmla="val 264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0" y="221284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Nova Encomenda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" y="2816352"/>
            <a:ext cx="105156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2834640"/>
            <a:ext cx="10479024" cy="329184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29077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Nº ENCOMENDA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2560320" y="29077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COMPRADOR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4572000" y="29077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DE FABRICO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6675120" y="29077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PREVISÃO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8229600" y="290779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AÇÕES &amp; CERTIFICADO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841248" y="3767328"/>
            <a:ext cx="10479024" cy="1829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34015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2026-0148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60320" y="340156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 Ribeiro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0" y="338328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3832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imprimir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675120" y="340156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12/11/2026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235440" y="3383280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0" y="3383280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9619488" y="3383280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19488" y="3383280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0003536" y="3383280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03536" y="3383280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10387584" y="3383280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87584" y="3383280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0771632" y="3383280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71632" y="3383280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841248" y="4334256"/>
            <a:ext cx="10479024" cy="1829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7552" y="396849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2026-0147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560320" y="396849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Miguel Costa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0" y="3950208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9502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Acabamento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675120" y="39684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09/11/2026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9235440" y="3950208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35440" y="395020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9619488" y="3950208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19488" y="395020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10003536" y="3950208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03536" y="395020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10387584" y="3950208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387584" y="395020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10771632" y="3950208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771632" y="395020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841248" y="4901184"/>
            <a:ext cx="10479024" cy="1829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" y="453542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2026-0146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560320" y="45354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Sofia Alves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72000" y="4517136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451713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Enviada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675120" y="453542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05/11/2026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235440" y="45171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235440" y="451713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9619488" y="45171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19488" y="451713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0003536" y="45171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03536" y="451713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10387584" y="45171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387584" y="451713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10771632" y="45171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771632" y="451713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841248" y="5468112"/>
            <a:ext cx="10479024" cy="1829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87552" y="510235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2026-0145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2560320" y="510235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Tiago Nunes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572000" y="5084064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63440" y="50840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Entregue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6675120" y="510235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28/10/2026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9235440" y="508406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35440" y="508406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9619488" y="508406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19488" y="508406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10003536" y="508406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003536" y="508406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10387584" y="508406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387584" y="508406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10771632" y="508406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771632" y="508406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822960" y="5705856"/>
            <a:ext cx="10515600" cy="1829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5769864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 Editar   ·   C  Certificado   ·   L  Ligação pública   ·   W  WhatsApp   ·   X  Eliminar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640080" y="6382512"/>
            <a:ext cx="10911535" cy="1829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· Plataforma de rastreio e certificação para impressão 3D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81425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 ·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RESPONSIVIDADE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mesma gestão, em telemóvel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Abaixo de 768 px a tabela dá lugar a cartões com estado e ações ao alcance do polegar.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51560" y="1517904"/>
            <a:ext cx="2743200" cy="4663440"/>
          </a:xfrm>
          <a:prstGeom prst="roundRect">
            <a:avLst>
              <a:gd name="adj" fmla="val 10667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24712" y="1591056"/>
            <a:ext cx="2596896" cy="4517136"/>
          </a:xfrm>
          <a:prstGeom prst="roundRect">
            <a:avLst>
              <a:gd name="adj" fmla="val 9155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39112" y="1664208"/>
            <a:ext cx="768096" cy="109728"/>
          </a:xfrm>
          <a:prstGeom prst="roundRect">
            <a:avLst>
              <a:gd name="adj" fmla="val 50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90195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Encomendas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2176272"/>
            <a:ext cx="2377440" cy="274320"/>
          </a:xfrm>
          <a:prstGeom prst="roundRect">
            <a:avLst>
              <a:gd name="adj" fmla="val 2666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176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Nova Encomenda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234440" y="2478024"/>
            <a:ext cx="23774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255117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2026-0148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60320" y="253288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25328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imprimir</a:t>
            </a:r>
            <a:endParaRPr lang="en-US" sz="580" dirty="0"/>
          </a:p>
        </p:txBody>
      </p:sp>
      <p:sp>
        <p:nvSpPr>
          <p:cNvPr id="15" name="Text 13"/>
          <p:cNvSpPr/>
          <p:nvPr/>
        </p:nvSpPr>
        <p:spPr>
          <a:xfrm>
            <a:off x="1344168" y="27432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 Ribeiro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1325880" y="2980944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298094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Editar</a:t>
            </a:r>
            <a:endParaRPr lang="en-US" sz="480" dirty="0"/>
          </a:p>
        </p:txBody>
      </p:sp>
      <p:sp>
        <p:nvSpPr>
          <p:cNvPr id="18" name="Shape 16"/>
          <p:cNvSpPr/>
          <p:nvPr/>
        </p:nvSpPr>
        <p:spPr>
          <a:xfrm>
            <a:off x="1856232" y="2980944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56232" y="298094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Selo</a:t>
            </a:r>
            <a:endParaRPr lang="en-US" sz="480" dirty="0"/>
          </a:p>
        </p:txBody>
      </p:sp>
      <p:sp>
        <p:nvSpPr>
          <p:cNvPr id="20" name="Shape 18"/>
          <p:cNvSpPr/>
          <p:nvPr/>
        </p:nvSpPr>
        <p:spPr>
          <a:xfrm>
            <a:off x="2386584" y="2980944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86584" y="298094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</a:t>
            </a:r>
            <a:endParaRPr lang="en-US" sz="480" dirty="0"/>
          </a:p>
        </p:txBody>
      </p:sp>
      <p:sp>
        <p:nvSpPr>
          <p:cNvPr id="22" name="Shape 20"/>
          <p:cNvSpPr/>
          <p:nvPr/>
        </p:nvSpPr>
        <p:spPr>
          <a:xfrm>
            <a:off x="2916936" y="2980944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16936" y="298094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Wpp</a:t>
            </a:r>
            <a:endParaRPr lang="en-US" sz="480" dirty="0"/>
          </a:p>
        </p:txBody>
      </p:sp>
      <p:sp>
        <p:nvSpPr>
          <p:cNvPr id="24" name="Shape 22"/>
          <p:cNvSpPr/>
          <p:nvPr/>
        </p:nvSpPr>
        <p:spPr>
          <a:xfrm>
            <a:off x="1234440" y="3346704"/>
            <a:ext cx="23774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44168" y="341985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2026-0147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560320" y="340156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34015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Acabamento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>
            <a:off x="1344168" y="36118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Miguel Costa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1325880" y="3849624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25880" y="384962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Editar</a:t>
            </a:r>
            <a:endParaRPr lang="en-US" sz="480" dirty="0"/>
          </a:p>
        </p:txBody>
      </p:sp>
      <p:sp>
        <p:nvSpPr>
          <p:cNvPr id="31" name="Shape 29"/>
          <p:cNvSpPr/>
          <p:nvPr/>
        </p:nvSpPr>
        <p:spPr>
          <a:xfrm>
            <a:off x="1856232" y="3849624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56232" y="384962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Selo</a:t>
            </a:r>
            <a:endParaRPr lang="en-US" sz="480" dirty="0"/>
          </a:p>
        </p:txBody>
      </p:sp>
      <p:sp>
        <p:nvSpPr>
          <p:cNvPr id="33" name="Shape 31"/>
          <p:cNvSpPr/>
          <p:nvPr/>
        </p:nvSpPr>
        <p:spPr>
          <a:xfrm>
            <a:off x="2386584" y="3849624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86584" y="384962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</a:t>
            </a:r>
            <a:endParaRPr lang="en-US" sz="480" dirty="0"/>
          </a:p>
        </p:txBody>
      </p:sp>
      <p:sp>
        <p:nvSpPr>
          <p:cNvPr id="35" name="Shape 33"/>
          <p:cNvSpPr/>
          <p:nvPr/>
        </p:nvSpPr>
        <p:spPr>
          <a:xfrm>
            <a:off x="2916936" y="3849624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16936" y="384962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Wpp</a:t>
            </a:r>
            <a:endParaRPr lang="en-US" sz="480" dirty="0"/>
          </a:p>
        </p:txBody>
      </p:sp>
      <p:sp>
        <p:nvSpPr>
          <p:cNvPr id="37" name="Shape 35"/>
          <p:cNvSpPr/>
          <p:nvPr/>
        </p:nvSpPr>
        <p:spPr>
          <a:xfrm>
            <a:off x="1234440" y="4215384"/>
            <a:ext cx="23774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44168" y="428853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2026-0146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560320" y="427024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0" y="42702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Enviada</a:t>
            </a:r>
            <a:endParaRPr lang="en-US" sz="580" dirty="0"/>
          </a:p>
        </p:txBody>
      </p:sp>
      <p:sp>
        <p:nvSpPr>
          <p:cNvPr id="41" name="Text 39"/>
          <p:cNvSpPr/>
          <p:nvPr/>
        </p:nvSpPr>
        <p:spPr>
          <a:xfrm>
            <a:off x="1344168" y="44805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Sofia Alves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1325880" y="4718304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25880" y="471830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Editar</a:t>
            </a:r>
            <a:endParaRPr lang="en-US" sz="480" dirty="0"/>
          </a:p>
        </p:txBody>
      </p:sp>
      <p:sp>
        <p:nvSpPr>
          <p:cNvPr id="44" name="Shape 42"/>
          <p:cNvSpPr/>
          <p:nvPr/>
        </p:nvSpPr>
        <p:spPr>
          <a:xfrm>
            <a:off x="1856232" y="4718304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56232" y="471830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Selo</a:t>
            </a:r>
            <a:endParaRPr lang="en-US" sz="480" dirty="0"/>
          </a:p>
        </p:txBody>
      </p:sp>
      <p:sp>
        <p:nvSpPr>
          <p:cNvPr id="46" name="Shape 44"/>
          <p:cNvSpPr/>
          <p:nvPr/>
        </p:nvSpPr>
        <p:spPr>
          <a:xfrm>
            <a:off x="2386584" y="4718304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86584" y="471830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</a:t>
            </a:r>
            <a:endParaRPr lang="en-US" sz="480" dirty="0"/>
          </a:p>
        </p:txBody>
      </p:sp>
      <p:sp>
        <p:nvSpPr>
          <p:cNvPr id="48" name="Shape 46"/>
          <p:cNvSpPr/>
          <p:nvPr/>
        </p:nvSpPr>
        <p:spPr>
          <a:xfrm>
            <a:off x="2916936" y="4718304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16936" y="471830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Wpp</a:t>
            </a:r>
            <a:endParaRPr lang="en-US" sz="480" dirty="0"/>
          </a:p>
        </p:txBody>
      </p:sp>
      <p:sp>
        <p:nvSpPr>
          <p:cNvPr id="50" name="Shape 48"/>
          <p:cNvSpPr/>
          <p:nvPr/>
        </p:nvSpPr>
        <p:spPr>
          <a:xfrm>
            <a:off x="1234440" y="5084064"/>
            <a:ext cx="23774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44168" y="515721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2026-0145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560320" y="513892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60320" y="51389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Entregue</a:t>
            </a:r>
            <a:endParaRPr lang="en-US" sz="580" dirty="0"/>
          </a:p>
        </p:txBody>
      </p:sp>
      <p:sp>
        <p:nvSpPr>
          <p:cNvPr id="54" name="Text 52"/>
          <p:cNvSpPr/>
          <p:nvPr/>
        </p:nvSpPr>
        <p:spPr>
          <a:xfrm>
            <a:off x="1344168" y="53492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Tiago Nunes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1325880" y="5586984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25880" y="558698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Editar</a:t>
            </a:r>
            <a:endParaRPr lang="en-US" sz="480" dirty="0"/>
          </a:p>
        </p:txBody>
      </p:sp>
      <p:sp>
        <p:nvSpPr>
          <p:cNvPr id="57" name="Shape 55"/>
          <p:cNvSpPr/>
          <p:nvPr/>
        </p:nvSpPr>
        <p:spPr>
          <a:xfrm>
            <a:off x="1856232" y="5586984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56232" y="558698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Selo</a:t>
            </a:r>
            <a:endParaRPr lang="en-US" sz="480" dirty="0"/>
          </a:p>
        </p:txBody>
      </p:sp>
      <p:sp>
        <p:nvSpPr>
          <p:cNvPr id="59" name="Shape 57"/>
          <p:cNvSpPr/>
          <p:nvPr/>
        </p:nvSpPr>
        <p:spPr>
          <a:xfrm>
            <a:off x="2386584" y="5586984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86584" y="558698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</a:t>
            </a:r>
            <a:endParaRPr lang="en-US" sz="480" dirty="0"/>
          </a:p>
        </p:txBody>
      </p:sp>
      <p:sp>
        <p:nvSpPr>
          <p:cNvPr id="61" name="Shape 59"/>
          <p:cNvSpPr/>
          <p:nvPr/>
        </p:nvSpPr>
        <p:spPr>
          <a:xfrm>
            <a:off x="2916936" y="5586984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16936" y="558698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Wpp</a:t>
            </a:r>
            <a:endParaRPr lang="en-US" sz="480" dirty="0"/>
          </a:p>
        </p:txBody>
      </p:sp>
      <p:sp>
        <p:nvSpPr>
          <p:cNvPr id="63" name="Shape 61"/>
          <p:cNvSpPr/>
          <p:nvPr/>
        </p:nvSpPr>
        <p:spPr>
          <a:xfrm>
            <a:off x="4434840" y="1828800"/>
            <a:ext cx="7178040" cy="118872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36008" y="201168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36008" y="20116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074920" y="1993392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scroll horizontal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5074920" y="2267712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tabela de 5 colunas deixa de forçar zoom; cada encomenda passa a um cartão de leitura vertical.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434840" y="3246120"/>
            <a:ext cx="7178040" cy="118872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36008" y="342900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36008" y="3429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074920" y="3410712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Alvos de toque ≥ 32 px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5074920" y="3685032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Editar, certificado, link e WhatsApp ficam em botões separados, com área de toque confortável.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434840" y="4663440"/>
            <a:ext cx="7178040" cy="118872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636008" y="484632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36008" y="4846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074920" y="4828032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Ações destrutivas isoladas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5074920" y="5102352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Eliminar fica no extremo oposto, reduzindo toques acidentais numa operação real.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40080" y="6382512"/>
            <a:ext cx="10911535" cy="1829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· Plataforma de rastreio e certificação para impressão 3D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981425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 ·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NOVO MÓDULO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 de produtos &amp; consumo de filamento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Dois separadores: produtos pré-definidos para orçamentar e carretéis com stock e abate de consumo.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42976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" y="1655064"/>
            <a:ext cx="11009376" cy="310896"/>
          </a:xfrm>
          <a:prstGeom prst="roundRect">
            <a:avLst>
              <a:gd name="adj" fmla="val 2941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5564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7556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75564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7008" y="1728216"/>
            <a:ext cx="9784080" cy="173736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728216"/>
            <a:ext cx="9784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orbittrack.vercel.app/painel/produtos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68680" y="21305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 de Produtos &amp; Consumo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4048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 produtos frequentes e acompanhe o stock de filamentos e resina.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68680" y="2834640"/>
            <a:ext cx="10424160" cy="1829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517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Produtos Pré-Definidos (2)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14400" y="2816352"/>
            <a:ext cx="2148840" cy="320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65176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de Filamentos &amp; Consumo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68680" y="2999232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313639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72184" y="31272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Suporte Headset Premium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72184" y="331012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 · Preto Matte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1005840" y="3730752"/>
            <a:ext cx="786384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767328"/>
            <a:ext cx="7863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Peso</a:t>
            </a:r>
            <a:endParaRPr lang="en-US" sz="540" dirty="0"/>
          </a:p>
        </p:txBody>
      </p:sp>
      <p:sp>
        <p:nvSpPr>
          <p:cNvPr id="25" name="Text 23"/>
          <p:cNvSpPr/>
          <p:nvPr/>
        </p:nvSpPr>
        <p:spPr>
          <a:xfrm>
            <a:off x="1005840" y="3913632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120 g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1847088" y="3730752"/>
            <a:ext cx="786384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47088" y="3767328"/>
            <a:ext cx="7863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</a:t>
            </a:r>
            <a:endParaRPr lang="en-US" sz="540" dirty="0"/>
          </a:p>
        </p:txBody>
      </p:sp>
      <p:sp>
        <p:nvSpPr>
          <p:cNvPr id="28" name="Text 26"/>
          <p:cNvSpPr/>
          <p:nvPr/>
        </p:nvSpPr>
        <p:spPr>
          <a:xfrm>
            <a:off x="1847088" y="3913632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 min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2688336" y="3730752"/>
            <a:ext cx="786384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88336" y="3767328"/>
            <a:ext cx="7863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Preço</a:t>
            </a:r>
            <a:endParaRPr lang="en-US" sz="540" dirty="0"/>
          </a:p>
        </p:txBody>
      </p:sp>
      <p:sp>
        <p:nvSpPr>
          <p:cNvPr id="31" name="Text 29"/>
          <p:cNvSpPr/>
          <p:nvPr/>
        </p:nvSpPr>
        <p:spPr>
          <a:xfrm>
            <a:off x="2688336" y="3913632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15,00 €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1005840" y="446227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 estimado de material: 2,64 €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3794760" y="2999232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31920" y="313639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98264" y="31272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Cubo Calibração 20mm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398264" y="331012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PETG · Cinza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3931920" y="3730752"/>
            <a:ext cx="786384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0" y="3767328"/>
            <a:ext cx="7863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Peso</a:t>
            </a:r>
            <a:endParaRPr lang="en-US" sz="540" dirty="0"/>
          </a:p>
        </p:txBody>
      </p:sp>
      <p:sp>
        <p:nvSpPr>
          <p:cNvPr id="40" name="Text 38"/>
          <p:cNvSpPr/>
          <p:nvPr/>
        </p:nvSpPr>
        <p:spPr>
          <a:xfrm>
            <a:off x="3931920" y="3913632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g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4773168" y="3730752"/>
            <a:ext cx="786384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3767328"/>
            <a:ext cx="7863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</a:t>
            </a:r>
            <a:endParaRPr lang="en-US" sz="540" dirty="0"/>
          </a:p>
        </p:txBody>
      </p:sp>
      <p:sp>
        <p:nvSpPr>
          <p:cNvPr id="43" name="Text 41"/>
          <p:cNvSpPr/>
          <p:nvPr/>
        </p:nvSpPr>
        <p:spPr>
          <a:xfrm>
            <a:off x="4773168" y="3913632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min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5614416" y="3730752"/>
            <a:ext cx="786384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14416" y="3767328"/>
            <a:ext cx="7863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Preço</a:t>
            </a:r>
            <a:endParaRPr lang="en-US" sz="540" dirty="0"/>
          </a:p>
        </p:txBody>
      </p:sp>
      <p:sp>
        <p:nvSpPr>
          <p:cNvPr id="46" name="Text 44"/>
          <p:cNvSpPr/>
          <p:nvPr/>
        </p:nvSpPr>
        <p:spPr>
          <a:xfrm>
            <a:off x="5614416" y="3913632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3,50 €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3931920" y="446227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 estimado de material: 0,38 €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6720840" y="2999232"/>
            <a:ext cx="4572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85432" y="31089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Carretéis em stock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85432" y="350215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eSUN PLA+ · Preto Matte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9829800" y="35021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750 g / 1000 g</a:t>
            </a:r>
            <a:endParaRPr lang="en-US" sz="620" dirty="0"/>
          </a:p>
        </p:txBody>
      </p:sp>
      <p:sp>
        <p:nvSpPr>
          <p:cNvPr id="52" name="Shape 50"/>
          <p:cNvSpPr/>
          <p:nvPr/>
        </p:nvSpPr>
        <p:spPr>
          <a:xfrm>
            <a:off x="6885432" y="3739896"/>
            <a:ext cx="4160520" cy="11887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85432" y="3739896"/>
            <a:ext cx="3120390" cy="11887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601200" y="3904488"/>
            <a:ext cx="457200" cy="164592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0" y="39044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-50 g</a:t>
            </a:r>
            <a:endParaRPr lang="en-US" sz="460" dirty="0"/>
          </a:p>
        </p:txBody>
      </p:sp>
      <p:sp>
        <p:nvSpPr>
          <p:cNvPr id="56" name="Shape 54"/>
          <p:cNvSpPr/>
          <p:nvPr/>
        </p:nvSpPr>
        <p:spPr>
          <a:xfrm>
            <a:off x="10104120" y="3904488"/>
            <a:ext cx="457200" cy="164592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04120" y="39044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-100 g</a:t>
            </a:r>
            <a:endParaRPr lang="en-US" sz="460" dirty="0"/>
          </a:p>
        </p:txBody>
      </p:sp>
      <p:sp>
        <p:nvSpPr>
          <p:cNvPr id="58" name="Shape 56"/>
          <p:cNvSpPr/>
          <p:nvPr/>
        </p:nvSpPr>
        <p:spPr>
          <a:xfrm>
            <a:off x="10607040" y="3904488"/>
            <a:ext cx="457200" cy="164592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607040" y="39044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-250 g</a:t>
            </a:r>
            <a:endParaRPr lang="en-US" sz="460" dirty="0"/>
          </a:p>
        </p:txBody>
      </p:sp>
      <p:sp>
        <p:nvSpPr>
          <p:cNvPr id="60" name="Text 58"/>
          <p:cNvSpPr/>
          <p:nvPr/>
        </p:nvSpPr>
        <p:spPr>
          <a:xfrm>
            <a:off x="6885432" y="437083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Bambu PETG · Cinza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9829800" y="437083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400 g / 1000 g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6885432" y="4608576"/>
            <a:ext cx="4160520" cy="11887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885432" y="4608576"/>
            <a:ext cx="1664208" cy="1188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601200" y="4773168"/>
            <a:ext cx="457200" cy="164592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601200" y="477316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-50 g</a:t>
            </a:r>
            <a:endParaRPr lang="en-US" sz="460" dirty="0"/>
          </a:p>
        </p:txBody>
      </p:sp>
      <p:sp>
        <p:nvSpPr>
          <p:cNvPr id="66" name="Shape 64"/>
          <p:cNvSpPr/>
          <p:nvPr/>
        </p:nvSpPr>
        <p:spPr>
          <a:xfrm>
            <a:off x="10104120" y="4773168"/>
            <a:ext cx="457200" cy="164592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104120" y="477316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-100 g</a:t>
            </a:r>
            <a:endParaRPr lang="en-US" sz="460" dirty="0"/>
          </a:p>
        </p:txBody>
      </p:sp>
      <p:sp>
        <p:nvSpPr>
          <p:cNvPr id="68" name="Shape 66"/>
          <p:cNvSpPr/>
          <p:nvPr/>
        </p:nvSpPr>
        <p:spPr>
          <a:xfrm>
            <a:off x="10607040" y="4773168"/>
            <a:ext cx="457200" cy="164592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607040" y="477316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-250 g</a:t>
            </a:r>
            <a:endParaRPr lang="en-US" sz="460" dirty="0"/>
          </a:p>
        </p:txBody>
      </p:sp>
      <p:sp>
        <p:nvSpPr>
          <p:cNvPr id="70" name="Text 68"/>
          <p:cNvSpPr/>
          <p:nvPr/>
        </p:nvSpPr>
        <p:spPr>
          <a:xfrm>
            <a:off x="6885432" y="523951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Sunlu PLA · Branco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9829800" y="523951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120 g / 1000 g</a:t>
            </a:r>
            <a:endParaRPr lang="en-US" sz="620" dirty="0"/>
          </a:p>
        </p:txBody>
      </p:sp>
      <p:sp>
        <p:nvSpPr>
          <p:cNvPr id="72" name="Shape 70"/>
          <p:cNvSpPr/>
          <p:nvPr/>
        </p:nvSpPr>
        <p:spPr>
          <a:xfrm>
            <a:off x="6885432" y="5477256"/>
            <a:ext cx="4160520" cy="11887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885432" y="5477256"/>
            <a:ext cx="499262" cy="11887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01200" y="5641848"/>
            <a:ext cx="457200" cy="164592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601200" y="564184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-50 g</a:t>
            </a:r>
            <a:endParaRPr lang="en-US" sz="460" dirty="0"/>
          </a:p>
        </p:txBody>
      </p:sp>
      <p:sp>
        <p:nvSpPr>
          <p:cNvPr id="76" name="Shape 74"/>
          <p:cNvSpPr/>
          <p:nvPr/>
        </p:nvSpPr>
        <p:spPr>
          <a:xfrm>
            <a:off x="10104120" y="5641848"/>
            <a:ext cx="457200" cy="164592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104120" y="564184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-100 g</a:t>
            </a:r>
            <a:endParaRPr lang="en-US" sz="460" dirty="0"/>
          </a:p>
        </p:txBody>
      </p:sp>
      <p:sp>
        <p:nvSpPr>
          <p:cNvPr id="78" name="Shape 76"/>
          <p:cNvSpPr/>
          <p:nvPr/>
        </p:nvSpPr>
        <p:spPr>
          <a:xfrm>
            <a:off x="10607040" y="5641848"/>
            <a:ext cx="457200" cy="164592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607040" y="564184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-250 g</a:t>
            </a:r>
            <a:endParaRPr lang="en-US" sz="460" dirty="0"/>
          </a:p>
        </p:txBody>
      </p:sp>
      <p:sp>
        <p:nvSpPr>
          <p:cNvPr id="80" name="Shape 78"/>
          <p:cNvSpPr/>
          <p:nvPr/>
        </p:nvSpPr>
        <p:spPr>
          <a:xfrm>
            <a:off x="640080" y="6382512"/>
            <a:ext cx="10911535" cy="1829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· Plataforma de rastreio e certificação para impressão 3D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981425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 ·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DO CLIENTE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Rastreio por link secreto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registo nem palavra-passe: o cliente abre o URL recebido por WhatsApp e acompanha tudo em tempo real.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1627632"/>
            <a:ext cx="2880360" cy="4526280"/>
          </a:xfrm>
          <a:prstGeom prst="roundRect">
            <a:avLst>
              <a:gd name="adj" fmla="val 1079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1700784"/>
            <a:ext cx="2734056" cy="4379976"/>
          </a:xfrm>
          <a:prstGeom prst="roundRect">
            <a:avLst>
              <a:gd name="adj" fmla="val 93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700784"/>
            <a:ext cx="2734056" cy="132588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4812" y="1764792"/>
            <a:ext cx="768096" cy="91440"/>
          </a:xfrm>
          <a:prstGeom prst="roundRect">
            <a:avLst>
              <a:gd name="adj" fmla="val 50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" y="235915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18488" y="239572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Camada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18488" y="259689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Encomenda #2026-0148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069848" y="2862072"/>
            <a:ext cx="247802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6152" y="2953512"/>
            <a:ext cx="868680" cy="18288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295351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ATUAL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1197864" y="3154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IMPRIMIR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97864" y="34564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Previsão de entrega: 12/11/2026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1069848" y="3840480"/>
            <a:ext cx="247802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6152" y="39319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Histórico de Fabrico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280160" y="4206240"/>
            <a:ext cx="10973" cy="9326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16152" y="4187952"/>
            <a:ext cx="137160" cy="137160"/>
          </a:xfrm>
          <a:prstGeom prst="ellipse">
            <a:avLst/>
          </a:prstGeom>
          <a:solidFill>
            <a:srgbClr val="4F46E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44752" y="41605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Recebida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1216152" y="4411980"/>
            <a:ext cx="137160" cy="137160"/>
          </a:xfrm>
          <a:prstGeom prst="ellipse">
            <a:avLst/>
          </a:prstGeom>
          <a:solidFill>
            <a:srgbClr val="4F46E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44752" y="438454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fila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1216152" y="4636008"/>
            <a:ext cx="137160" cy="137160"/>
          </a:xfrm>
          <a:prstGeom prst="ellipse">
            <a:avLst/>
          </a:prstGeom>
          <a:solidFill>
            <a:srgbClr val="4F46E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44752" y="460857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imprimir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1216152" y="4860036"/>
            <a:ext cx="137160" cy="137160"/>
          </a:xfrm>
          <a:prstGeom prst="ellipse">
            <a:avLst/>
          </a:prstGeom>
          <a:solidFill>
            <a:srgbClr val="E2E8F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4752" y="483260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Acabamento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1216152" y="5084064"/>
            <a:ext cx="137160" cy="137160"/>
          </a:xfrm>
          <a:prstGeom prst="ellipse">
            <a:avLst/>
          </a:prstGeom>
          <a:solidFill>
            <a:srgbClr val="E2E8F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44752" y="505663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Enviada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1069848" y="5422392"/>
            <a:ext cx="2478024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16152" y="550468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Suporte Headset Premium</a:t>
            </a:r>
            <a:endParaRPr lang="en-US" sz="640" dirty="0"/>
          </a:p>
        </p:txBody>
      </p:sp>
      <p:sp>
        <p:nvSpPr>
          <p:cNvPr id="33" name="Text 31"/>
          <p:cNvSpPr/>
          <p:nvPr/>
        </p:nvSpPr>
        <p:spPr>
          <a:xfrm>
            <a:off x="1216152" y="568756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 · 0.2 mm · 120 g</a:t>
            </a:r>
            <a:endParaRPr lang="en-US" sz="540" dirty="0"/>
          </a:p>
        </p:txBody>
      </p:sp>
      <p:sp>
        <p:nvSpPr>
          <p:cNvPr id="34" name="Shape 32"/>
          <p:cNvSpPr/>
          <p:nvPr/>
        </p:nvSpPr>
        <p:spPr>
          <a:xfrm>
            <a:off x="2587752" y="5568696"/>
            <a:ext cx="713232" cy="256032"/>
          </a:xfrm>
          <a:prstGeom prst="roundRect">
            <a:avLst>
              <a:gd name="adj" fmla="val 21429"/>
            </a:avLst>
          </a:prstGeom>
          <a:solidFill>
            <a:srgbClr val="EEF2FF"/>
          </a:solidFill>
          <a:ln w="7620">
            <a:solidFill>
              <a:srgbClr val="C7D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87752" y="556869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 3D</a:t>
            </a:r>
            <a:endParaRPr lang="en-US" sz="540" dirty="0"/>
          </a:p>
        </p:txBody>
      </p:sp>
      <p:sp>
        <p:nvSpPr>
          <p:cNvPr id="36" name="Text 34"/>
          <p:cNvSpPr/>
          <p:nvPr/>
        </p:nvSpPr>
        <p:spPr>
          <a:xfrm>
            <a:off x="434340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Jornada do cliente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343400" y="2112264"/>
            <a:ext cx="347472" cy="347472"/>
          </a:xfrm>
          <a:prstGeom prst="ellipse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3400" y="21122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20848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Recebe o link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239572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Enviado automaticamente por WhatsApp com o estado atual e o URL único.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343400" y="3008376"/>
            <a:ext cx="347472" cy="347472"/>
          </a:xfrm>
          <a:prstGeom prst="ellipse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3400" y="3008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298094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Abre sem login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32918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token de 24 caracteres identifica a encomenda; nenhuma conta é necessária.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4343400" y="3904488"/>
            <a:ext cx="347472" cy="347472"/>
          </a:xfrm>
          <a:prstGeom prst="ellipse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3400" y="39044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46320" y="387705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Vê estado e peças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46320" y="418795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Timeline, previsão, notas públicas, especificações e certificados.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4343400" y="4800600"/>
            <a:ext cx="347472" cy="347472"/>
          </a:xfrm>
          <a:prstGeom prst="ellipse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3400" y="4800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46320" y="47731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Abre o passaporte 3D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46320" y="508406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Botão "Ver 3D &amp; VR" leva ao modelo com Realidade Aumentada.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640080" y="6382512"/>
            <a:ext cx="10911535" cy="1829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· Plataforma de rastreio e certificação para impressão 3D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981425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 ·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EXPERIÊNCIA IMERSIVA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Passaporte 3D com Realidade Aumentada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modelo .glb do vendedor é exibido no navegador e projetado sobre a câmara do telemóvel, em escala real.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6492240" cy="4160520"/>
          </a:xfrm>
          <a:prstGeom prst="roundRect">
            <a:avLst>
              <a:gd name="adj" fmla="val 3516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37360"/>
            <a:ext cx="6400800" cy="4069080"/>
          </a:xfrm>
          <a:prstGeom prst="roundRect">
            <a:avLst>
              <a:gd name="adj" fmla="val 292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5111496"/>
            <a:ext cx="2011680" cy="164592"/>
          </a:xfrm>
          <a:prstGeom prst="ellipse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2370125"/>
            <a:ext cx="1188720" cy="689458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4920" y="3059582"/>
            <a:ext cx="1829" cy="1378915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3886200" y="4438498"/>
            <a:ext cx="1188720" cy="689458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4438498"/>
            <a:ext cx="1188720" cy="689458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3059582"/>
            <a:ext cx="1829" cy="1378915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697480" y="2370125"/>
            <a:ext cx="1188720" cy="689458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3886200" y="3059582"/>
            <a:ext cx="1188720" cy="689458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86200" y="3749040"/>
            <a:ext cx="1829" cy="1378915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7480" y="3059582"/>
            <a:ext cx="1188720" cy="689458"/>
          </a:xfrm>
          <a:prstGeom prst="line">
            <a:avLst/>
          </a:prstGeom>
          <a:noFill/>
          <a:ln w="28575">
            <a:solidFill>
              <a:srgbClr val="A5B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1920240"/>
            <a:ext cx="1481328" cy="310896"/>
          </a:xfrm>
          <a:prstGeom prst="roundRect">
            <a:avLst>
              <a:gd name="adj" fmla="val 2941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192024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Ver na Câmara (AR)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441448" y="1920240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192024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◐  Tamanho Real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767328" y="1920240"/>
            <a:ext cx="1005840" cy="310896"/>
          </a:xfrm>
          <a:prstGeom prst="roundRect">
            <a:avLst>
              <a:gd name="adj" fmla="val 2941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192024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1:1 ativo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874520" y="5285232"/>
            <a:ext cx="4023360" cy="384048"/>
          </a:xfrm>
          <a:prstGeom prst="roundRect">
            <a:avLst>
              <a:gd name="adj" fmla="val 23810"/>
            </a:avLst>
          </a:prstGeom>
          <a:solidFill>
            <a:srgbClr val="0B1020">
              <a:alpha val="80000"/>
            </a:srgbClr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74520" y="52852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Realidade Aumentada · aponte para a secretária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7452360" y="1691640"/>
            <a:ext cx="4069080" cy="1874520"/>
          </a:xfrm>
          <a:prstGeom prst="roundRect">
            <a:avLst>
              <a:gd name="adj" fmla="val 6829"/>
            </a:avLst>
          </a:prstGeom>
          <a:solidFill>
            <a:srgbClr val="131C33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189280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18928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PEÇA CERTIFICADA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7680960" y="2221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Suporte Headset Premium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80960" y="2606040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7680960" y="27523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509760" y="2606040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9509760" y="27523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Preto Matte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80960" y="3063240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Camada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7680960" y="32095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0,20 mm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509760" y="3063240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Preenchimento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9509760" y="32095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25 %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452360" y="3703320"/>
            <a:ext cx="4069080" cy="1051560"/>
          </a:xfrm>
          <a:prstGeom prst="roundRect">
            <a:avLst>
              <a:gd name="adj" fmla="val 12174"/>
            </a:avLst>
          </a:prstGeom>
          <a:solidFill>
            <a:srgbClr val="1C1A12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0" y="381304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CERTIFICADO DE AUTENTICIDADE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7680960" y="4023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7K2P-9XQ4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680960" y="434340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Selo prata · emitido em 28/10/2026</a:t>
            </a:r>
            <a:endParaRPr lang="en-US" sz="620" dirty="0"/>
          </a:p>
        </p:txBody>
      </p:sp>
      <p:sp>
        <p:nvSpPr>
          <p:cNvPr id="41" name="Shape 39"/>
          <p:cNvSpPr/>
          <p:nvPr/>
        </p:nvSpPr>
        <p:spPr>
          <a:xfrm>
            <a:off x="10378440" y="4087368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78440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C19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Verificar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7452360" y="4846320"/>
            <a:ext cx="4069080" cy="1005840"/>
          </a:xfrm>
          <a:prstGeom prst="roundRect">
            <a:avLst>
              <a:gd name="adj" fmla="val 12727"/>
            </a:avLst>
          </a:prstGeom>
          <a:solidFill>
            <a:srgbClr val="131C33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80960" y="49469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Câmara em ecrã inteiro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680960" y="51663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inset-0 · sem barras, sem scroll.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objeto fica sobreposto ao vídeo real.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40080" y="6382512"/>
            <a:ext cx="10911535" cy="1829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· Plataforma de rastreio e certificação para impressão 3D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81425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 ·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CONFIANÇA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Certificação e verificação pública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peça recebe um código de 8 caracteres verificável por qualquer pessoa, sem conta.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120640" cy="379476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6596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PAINEL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Emissão em um clique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96112" y="2770632"/>
            <a:ext cx="237744" cy="237744"/>
          </a:xfrm>
          <a:prstGeom prst="ellipse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7706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243584" y="274320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Selecionar a encomenda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43584" y="296265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vendedor clica no selo na linha da encomenda.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96112" y="3639312"/>
            <a:ext cx="237744" cy="237744"/>
          </a:xfrm>
          <a:prstGeom prst="ellipse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6393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243584" y="361188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Gerar por peça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43584" y="383133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item recebe um código único: 4 caracteres, hífen, 4 caracteres.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96112" y="4507992"/>
            <a:ext cx="237744" cy="237744"/>
          </a:xfrm>
          <a:prstGeom prst="ellipse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5079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243584" y="448056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Registar critérios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43584" y="470001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Nível do selo e critérios de qualidade ficam guardados no certificado.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80760" y="1783080"/>
            <a:ext cx="5440680" cy="3794760"/>
          </a:xfrm>
          <a:prstGeom prst="roundRect">
            <a:avLst>
              <a:gd name="adj" fmla="val 33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965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VERIFICAÇÃO PÚBLICA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309360" y="21762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orbittrack.vercel.app/verificar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309360" y="2487168"/>
            <a:ext cx="4983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2670048"/>
            <a:ext cx="384048" cy="38404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2670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04304" y="267919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Certificado válido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04304" y="28986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Código 7K2P-9XQ4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510528" y="3182112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Peça: Suporte Headset Premium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10528" y="3364992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Camada · emitido 28/10/2026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309360" y="3886200"/>
            <a:ext cx="4983480" cy="310896"/>
          </a:xfrm>
          <a:prstGeom prst="roundRect">
            <a:avLst>
              <a:gd name="adj" fmla="val 23529"/>
            </a:avLst>
          </a:prstGeom>
          <a:solidFill>
            <a:srgbClr val="D1FAE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3886200"/>
            <a:ext cx="219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11696" y="3886200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Impressão 3D validada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09360" y="4270248"/>
            <a:ext cx="4983480" cy="310896"/>
          </a:xfrm>
          <a:prstGeom prst="roundRect">
            <a:avLst>
              <a:gd name="adj" fmla="val 23529"/>
            </a:avLst>
          </a:prstGeom>
          <a:solidFill>
            <a:srgbClr val="D1FAE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4270248"/>
            <a:ext cx="219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11696" y="4270248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Controlo dimensional OK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09360" y="4654296"/>
            <a:ext cx="4983480" cy="310896"/>
          </a:xfrm>
          <a:prstGeom prst="roundRect">
            <a:avLst>
              <a:gd name="adj" fmla="val 23529"/>
            </a:avLst>
          </a:prstGeom>
          <a:solidFill>
            <a:srgbClr val="D1FAE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4654296"/>
            <a:ext cx="219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11696" y="4654296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Acabamento verificado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09360" y="5120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função verificar_certificado() corre com security definer e devolve apenas campos públicos.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40080" y="6382512"/>
            <a:ext cx="10911535" cy="1829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· Plataforma de rastreio e certificação para impressão 3D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81425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 ·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WHITE-LABEL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plataforma com a identidade do vendedor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Logótipo, capa, cores e contactos definem todo o portal público que o cliente vê.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577840" cy="3886200"/>
          </a:xfrm>
          <a:prstGeom prst="roundRect">
            <a:avLst>
              <a:gd name="adj" fmla="val 32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Minha Empresa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96112" y="2240280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Nome da empresa</a:t>
            </a:r>
            <a:endParaRPr lang="en-US" sz="620" dirty="0"/>
          </a:p>
        </p:txBody>
      </p:sp>
      <p:sp>
        <p:nvSpPr>
          <p:cNvPr id="8" name="Shape 6"/>
          <p:cNvSpPr/>
          <p:nvPr/>
        </p:nvSpPr>
        <p:spPr>
          <a:xfrm>
            <a:off x="896112" y="2395728"/>
            <a:ext cx="507492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39572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Camada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96112" y="280720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620" dirty="0"/>
          </a:p>
        </p:txBody>
      </p:sp>
      <p:sp>
        <p:nvSpPr>
          <p:cNvPr id="11" name="Shape 9"/>
          <p:cNvSpPr/>
          <p:nvPr/>
        </p:nvSpPr>
        <p:spPr>
          <a:xfrm>
            <a:off x="896112" y="2962656"/>
            <a:ext cx="507492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96265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geral@ateliercamada.pt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96112" y="3374136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Telefone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896112" y="3529584"/>
            <a:ext cx="507492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295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+351 912 000 000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96112" y="3941064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Instagram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896112" y="4096512"/>
            <a:ext cx="507492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09651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@ateliercamada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96112" y="4617720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 primária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896112" y="4791456"/>
            <a:ext cx="274320" cy="274320"/>
          </a:xfrm>
          <a:prstGeom prst="ellipse">
            <a:avLst/>
          </a:prstGeom>
          <a:solidFill>
            <a:srgbClr val="4F46E5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4791456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4208" y="4791456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48256" y="479145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32304" y="4791456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4773168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477316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583680" y="1737360"/>
            <a:ext cx="4937760" cy="38862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19019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4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PRÉ-VISUALIZAÇÃO DO PORTAL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6858000" y="2176272"/>
            <a:ext cx="4389120" cy="132588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29800" y="2304288"/>
            <a:ext cx="1280160" cy="109728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0" y="294436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2944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35240" y="30175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 Camada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35240" y="325526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Encomenda #2026-0148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858000" y="3639312"/>
            <a:ext cx="4389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3749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FABRICO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040880" y="395020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Previsão 12/11/2026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9921240" y="3822192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7620">
            <a:solidFill>
              <a:srgbClr val="C7D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21240" y="382219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 3D &amp; VR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858000" y="4553712"/>
            <a:ext cx="4389120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466344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CERTIFICADO · 7K2P-9XQ4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7040880" y="486460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Verificação pública disponível</a:t>
            </a:r>
            <a:endParaRPr lang="en-US" sz="620" dirty="0"/>
          </a:p>
        </p:txBody>
      </p:sp>
      <p:sp>
        <p:nvSpPr>
          <p:cNvPr id="43" name="Shape 41"/>
          <p:cNvSpPr/>
          <p:nvPr/>
        </p:nvSpPr>
        <p:spPr>
          <a:xfrm>
            <a:off x="640080" y="6382512"/>
            <a:ext cx="10911535" cy="1829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· Plataforma de rastreio e certificação para impressão 3D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81425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 ·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RESPONSIVIDADE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plataforma, três ecrãs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Layouts fluidos com Tailwind: nada de scroll horizontal nem elementos cortados.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87552" y="4087368"/>
            <a:ext cx="3236976" cy="10058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331720"/>
            <a:ext cx="3017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79576" y="2414016"/>
            <a:ext cx="2852928" cy="1572768"/>
          </a:xfrm>
          <a:prstGeom prst="roundRect">
            <a:avLst>
              <a:gd name="adj" fmla="val 319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3584" y="2487168"/>
            <a:ext cx="2724912" cy="118872"/>
          </a:xfrm>
          <a:prstGeom prst="roundRect">
            <a:avLst>
              <a:gd name="adj" fmla="val 2307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43584" y="2660904"/>
            <a:ext cx="2724912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43584" y="3008376"/>
            <a:ext cx="272491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3246120"/>
            <a:ext cx="272491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43584" y="3483864"/>
            <a:ext cx="272491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43584" y="3721608"/>
            <a:ext cx="272491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25196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3000" y="44805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1024 px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05840" y="467258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Tabela completa + sidebar fixa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965192" y="4087368"/>
            <a:ext cx="2139696" cy="10058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1920240"/>
            <a:ext cx="1920240" cy="21488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57216" y="2002536"/>
            <a:ext cx="1755648" cy="1984248"/>
          </a:xfrm>
          <a:prstGeom prst="roundRect">
            <a:avLst>
              <a:gd name="adj" fmla="val 458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21224" y="2075688"/>
            <a:ext cx="1627632" cy="118872"/>
          </a:xfrm>
          <a:prstGeom prst="roundRect">
            <a:avLst>
              <a:gd name="adj" fmla="val 2307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21224" y="2249424"/>
            <a:ext cx="1627632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21224" y="2596896"/>
            <a:ext cx="162763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21224" y="2834640"/>
            <a:ext cx="162763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21224" y="3072384"/>
            <a:ext cx="162763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21224" y="3310128"/>
            <a:ext cx="162763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21224" y="3547872"/>
            <a:ext cx="162763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25196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0" y="44805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768 – 1023 px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434840" y="467258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Grelha de 2 colunas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851392" y="4087368"/>
            <a:ext cx="1408176" cy="10058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0" y="1691640"/>
            <a:ext cx="1188720" cy="237744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43416" y="1773936"/>
            <a:ext cx="1024128" cy="2212848"/>
          </a:xfrm>
          <a:prstGeom prst="roundRect">
            <a:avLst>
              <a:gd name="adj" fmla="val 982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07424" y="1847088"/>
            <a:ext cx="896112" cy="118872"/>
          </a:xfrm>
          <a:prstGeom prst="roundRect">
            <a:avLst>
              <a:gd name="adj" fmla="val 2307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07424" y="2020824"/>
            <a:ext cx="896112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07424" y="2368296"/>
            <a:ext cx="89611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07424" y="2606040"/>
            <a:ext cx="89611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07424" y="2843784"/>
            <a:ext cx="89611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07424" y="3081528"/>
            <a:ext cx="89611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07424" y="3319272"/>
            <a:ext cx="89611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07424" y="3557016"/>
            <a:ext cx="89611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92440" y="425196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Telemóvel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092440" y="44805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768 px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955280" y="467258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Cartões + menu drawer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40080" y="5120640"/>
            <a:ext cx="10927080" cy="1051560"/>
          </a:xfrm>
          <a:prstGeom prst="roundRect">
            <a:avLst>
              <a:gd name="adj" fmla="val 10435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539496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88136" y="5394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Breakpoint md: tabela → cartões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566160" y="539496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785616" y="5394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lateral vira drawer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263640" y="539496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483096" y="5394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Alvos de toque ≥ 32 px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961120" y="539496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180576" y="5394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 mínimo 7 px na mock, 14 px real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40080" y="6382512"/>
            <a:ext cx="10911535" cy="1829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· Plataforma de rastreio e certificação para impressão 3D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981425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 ·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SEGURANÇA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Acesso público sem expor a base de dados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portal do cliente não lê tabelas: consome apenas três funções SQL controladas.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8424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▣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98448" y="1965960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 Level Security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298448" y="22402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Todas as tabelas de negócio têm políticas por empresa; um vendedor nunca vê dados de outro.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144768" y="178308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45936" y="198424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03136" y="1965960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RPC security definer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03136" y="22402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obter_encomenda_publica, obter_peca_publica e verificar_certificado devolvem só o necessário.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35584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355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98448" y="3337560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 não sequenciais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298448" y="36118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caracteres hexadecimais por encomenda e por peça; o link é a credencial.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44768" y="315468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5936" y="335584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3355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03136" y="3337560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 isolado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03136" y="36118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Buckets separados para empresas e encomendas, com leitura pública apenas de objetos referenciados.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0080" y="4663440"/>
            <a:ext cx="10835640" cy="1417320"/>
          </a:xfrm>
          <a:prstGeom prst="roundRect">
            <a:avLst>
              <a:gd name="adj" fmla="val 7742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8006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função exposta ao cliente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14400" y="5010912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obter_encomenda_publica('a3f9c1...');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532180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devolve estado, previsão, notas públicas, peças e certificados — nunca notas internas, NIF ou contactos privados.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40080" y="6382512"/>
            <a:ext cx="10911535" cy="1829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· Plataforma de rastreio e certificação para impressão 3D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81425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 ·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TECNOLOGIA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Stack, build e distribuição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aberto, tipado e com deploy contínuo a cada push na branch principal.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06040" cy="768096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3852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01568" y="1783080"/>
            <a:ext cx="2606040" cy="768096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193852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84448" y="219456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Tipagem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163056" y="1783080"/>
            <a:ext cx="2606040" cy="768096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93852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45936" y="219456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924544" y="1783080"/>
            <a:ext cx="2606040" cy="768096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07424" y="193852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v4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07424" y="219456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Estilos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40080" y="2697480"/>
            <a:ext cx="2606040" cy="768096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85292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10896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+ DB + Storage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01568" y="2697480"/>
            <a:ext cx="2606040" cy="768096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4448" y="285292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Three.js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84448" y="310896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Modelos 3D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163056" y="2697480"/>
            <a:ext cx="2606040" cy="768096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5936" y="285292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45936" y="310896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CDN global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924544" y="2697480"/>
            <a:ext cx="2606040" cy="768096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07424" y="285292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07424" y="310896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40080" y="37673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DE ENTREGA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40080" y="4005072"/>
            <a:ext cx="22402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413308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" y="43799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944368" y="4279392"/>
            <a:ext cx="384048" cy="23774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01568" y="4005072"/>
            <a:ext cx="22402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0" y="413308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66160" y="43799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tsc + vite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705856" y="4279392"/>
            <a:ext cx="384048" cy="23774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63056" y="4005072"/>
            <a:ext cx="22402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413308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27648" y="43799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8467344" y="4279392"/>
            <a:ext cx="384048" cy="23774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24544" y="4005072"/>
            <a:ext cx="22402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89136" y="413308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089136" y="43799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orbittrack.app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40080" y="5074920"/>
            <a:ext cx="10927080" cy="822960"/>
          </a:xfrm>
          <a:prstGeom prst="roundRect">
            <a:avLst>
              <a:gd name="adj" fmla="val 1111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50749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de produção validado: 0 erros de TypeScript · SPA rewrites configurados · credenciais com fallback resiliente.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" y="6382512"/>
            <a:ext cx="10911535" cy="1829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 · Plataforma de rastreio e certificação para impressão 3D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814255" y="6446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 ·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4358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base sólida atual para a operação completa da oficina.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93008" cy="3200400"/>
          </a:xfrm>
          <a:prstGeom prst="roundRect">
            <a:avLst>
              <a:gd name="adj" fmla="val 4571"/>
            </a:avLst>
          </a:prstGeom>
          <a:solidFill>
            <a:srgbClr val="131C33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01168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11680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1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AGORA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6112" y="2916936"/>
            <a:ext cx="118872" cy="45720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834640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Persistir produtos e consumos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" y="305409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 e stock em tabelas Supabase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896112" y="3593592"/>
            <a:ext cx="118872" cy="45720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511296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Histórico de consumo por encomenda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" y="373075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Gramas gastas, carretel e custo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96112" y="4270248"/>
            <a:ext cx="118872" cy="45720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187952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Orçamento em PDF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" y="440740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Exportação com preços e prazos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315968" y="1783080"/>
            <a:ext cx="3493008" cy="3200400"/>
          </a:xfrm>
          <a:prstGeom prst="roundRect">
            <a:avLst>
              <a:gd name="adj" fmla="val 4571"/>
            </a:avLst>
          </a:prstGeom>
          <a:solidFill>
            <a:srgbClr val="131C33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01168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011680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1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SEGUINTE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572000" y="23408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2916936"/>
            <a:ext cx="118872" cy="4572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2834640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Notificações automáticas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91456" y="305409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e WhatsApp a cada mudança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0" y="3593592"/>
            <a:ext cx="118872" cy="4572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511296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Recibos e faturação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91456" y="373075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Numeração sequencial por empresa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0" y="4270248"/>
            <a:ext cx="118872" cy="4572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4187952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multi-idioma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91456" y="440740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PT · EN · ES no link público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991856" y="1783080"/>
            <a:ext cx="3493008" cy="3200400"/>
          </a:xfrm>
          <a:prstGeom prst="roundRect">
            <a:avLst>
              <a:gd name="adj" fmla="val 4571"/>
            </a:avLst>
          </a:prstGeom>
          <a:solidFill>
            <a:srgbClr val="131C33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47888" y="201168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47888" y="2011680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1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DEPOIS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8247888" y="23408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47888" y="2916936"/>
            <a:ext cx="118872" cy="457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67344" y="2834640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Subdomínio por oficina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67344" y="305409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atelier.orbittrack.app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247888" y="3593592"/>
            <a:ext cx="118872" cy="457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67344" y="3511296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WebAR com ancoragem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467344" y="373075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fixo na superfície real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247888" y="4270248"/>
            <a:ext cx="118872" cy="457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67344" y="4187952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Avaliações por peça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467344" y="440740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Reputação pública verificada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40080" y="5349240"/>
            <a:ext cx="10927080" cy="1829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532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OrbitTrack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40080" y="5897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Obrigado. Perguntas e próximos passos.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15200" y="566928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github.com/jrfdutra/orbittrack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OrbitTrack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OrbitTrack v2.0</dc:title>
  <dc:subject>Plataforma white-label de rastreio e certificação para impressão 3D</dc:subject>
  <dc:creator>OrbitTrack</dc:creator>
  <cp:lastModifiedBy>OrbitTrack</cp:lastModifiedBy>
  <cp:revision>1</cp:revision>
  <dcterms:created xsi:type="dcterms:W3CDTF">2026-10-28T23:49:12Z</dcterms:created>
  <dcterms:modified xsi:type="dcterms:W3CDTF">2026-10-28T23:49:12Z</dcterms:modified>
</cp:coreProperties>
</file>
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Bom dia. O OrbitTrack nasce de uma constatação simples: o fabrico aditivo profissional cresceu, mas a forma como as oficinas comunicam com os clientes ficou parada no tempo. Esta apresentação mostra o problema, a solução proposta e, com transparência, o estado real do produto. O objetivo é sair da reunião com uma demonstração agendada.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à audiência para pensar na última encomenda que fizeram online. Em quase todos os setores existe tracking. Na impressão 3D, o tracking continua a ser uma mensagem manual. Estes três problemas têm um custo direto: horas de suporte e margem perdida em negociações de preço.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proposta não é substituir o email ou o WhatsApp: é dar-lhes um destino único. O comprador receberá um link, abrirá no telemóvel e terá resposta para as perguntas que faria por mensagem. Para o vendedor, é menos suporte e uma experiência coerente com o preço que pratica.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Estes quatro benefícios estão ligados a funcionalidades previstas. O primeiro será o mais fácil de quantificar num piloto: contar quantas mensagens por encomenda a oficina recebe hoje. Os outros três sustentam a decisão de compra por parte de oficinas que querem posicionar-se num segmento premium.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Vale a pena sublinhar a peça como terceiro ponto de vista. O QR code na peça é roadmap, mas o princípio mantém-se: um dia, continuará a funcionar anos depois da encomenda, mesmo que o comprador perca o link original. É este detalhe que transforma um trabalho de impressão numa peça com proveniência.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fluxo foi desenhado para ser compreendido em menos de um minuto. Nesta versão, mostre o painel e explique que o portal do comprador é o próximo marco; a criação e a atualização de estado ainda não estão operacionais.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ecrã é a base do trabalho diário. Neste momento o dashboard mostra o total de encomendas; os indicadores de encomendas por mês, tempo médio de entrega e avaliação média estão identificados como evolução. Se a audiência perguntar por métricas, seja transparente e enquadre como próxima fase.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tabela que vê é ilustrativa, com dados fictícios. O modelo de dados suporta a ficha técnica completa de cada item e separa notas públicas de notas internas. As colunas de pesquisa e filtro fazem parte do próximo ciclo de desenvolvimento, não da versão atual.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sete estados iniciais são apenas um ponto de partida. A configuração por empresa permite adaptar o fluxo a quem faz prototipagem rápida ou a quem produz séries maiores. A alteração de estado com upload de fotos está prevista e é o próximo passo natural.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comprador nunca cria conta. Recebe um link e abre. Isto reduz drasticamente a fricção e funciona bem em Portugal, onde o WhatsApp é o canal dominante: o link pode ser enviado por lá. A interface está construída; a leitura de dados precisa de ser concluída através das funções RPC já definidas na base de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passaporte é o argumento mais diferenciador para oficinas que vendem peças personalizadas ou reposições. Um QR code na peça permite ao proprietário consultar o histórico anos mais tarde. É também a base para serviços pós-venda e garantia.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certificado não substitui uma certificação legal: é um selo de qualidade da própria oficina. O valor está na verificação pública: quando estiver ligada, qualquer pessoa poderá abrir /verificar/AB7K-92QX e confirmar que aquele código existe. Um código de exemplo é usado apenas para ilustração.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geração no cliente tem uma vantagem prática: os documentos não passam por um servidor de terceiros. O utilizador revê e edita antes de emitir. Neste momento existe a estrutura técnica; o layout profissional é trabalho de acabamento.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que costuma convencer oficinas de peças técnicas e reposições. O QR não é um link temporário: é a porta de entrada para o passaporte. A implementação atual ainda não gera o QR; a biblioteca está instalada e o desenho de interação está definido.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white-label é o objetivo: o comprador deve ver a marca da oficina, não a marca OrbitTrack. Isto é particularmente importante para empresas que já investiram em branding e não querem diluí-lo num portal de terceiros. A aplicação das cores ao portal e aos PDFs ainda está por concluir.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é deliberadamente técnico. Para parceiros e investidores, mostra maturidade. Para clientes, responde à pergunta “os meus dados ficam separados dos de outra oficina?”. A resposta é sim por desenho, mas a validação com testes ainda está em falta — e é importante dizê-lo.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há servidor próprio: o frontend fala diretamente com o Supabase, protegido por RLS. Isto reduz custo operacional e tempo de arranque. A contrapartida é que a segurança depende de políticas bem testadas — daí a prioridade dada aos testes de RLS no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transparência é intencional. Numa venda real, prometer o que não existe destrói a confiança na primeira semana de utilização. O objetivo é fechar os fluxos essenciais antes de escalar comercialmente. A matriz completa, com evidências ficheiro a ficheiro, está na documentação técnica.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Escolha a persona que mais se aproxima da audiência e aprofunde apenas essa. O erro comum é tentar vender para todos ao mesmo tempo. As três personas partilham a mesma dor: a informação técnica e o estado da encomenda estão dispersos.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apresento datas porque não existe equipa dimensionada nem histórico de velocidade que as justifique. O critério é claro: cada horizonte só avança quando o anterior estiver validado. As notificações e os pagamentos estão fora do âmbito da versão atual, mas a arquitetura já os acomoda.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Termine com um convite concreto, não com “obrigado”. Proponha uma demonstração de 20 minutos com dados de exemplo, deixando claro o que está funcional e o que é roadmap. Se possível, saia da reunião com data marcada e com o email do responsável.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0280000">
            <a:off x="7406640" y="457200"/>
            <a:ext cx="4937760" cy="1920240"/>
          </a:xfrm>
          <a:prstGeom prst="ellipse">
            <a:avLst/>
          </a:prstGeom>
          <a:solidFill>
            <a:srgbClr val="0F172A">
              <a:alpha val="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0280000">
            <a:off x="7040880" y="1005840"/>
            <a:ext cx="5669280" cy="2286000"/>
          </a:xfrm>
          <a:prstGeom prst="ellipse">
            <a:avLst/>
          </a:prstGeom>
          <a:solidFill>
            <a:srgbClr val="0F172A">
              <a:alpha val="0"/>
            </a:srgbClr>
          </a:solidFill>
          <a:ln w="12700">
            <a:solidFill>
              <a:srgbClr val="4F46E5">
                <a:alpha val="45000"/>
              </a:srgbClr>
            </a:solidFill>
            <a:prstDash val="solid"/>
          </a:ln>
        </p:spPr>
      </p:sp>
      <p:pic>
        <p:nvPicPr>
          <p:cNvPr id="4" name="Image 0" descr="C:\Users\devel\Downloads\Orbitdev\orbittrack\entrega\logo\orbittrack-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96012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9144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APRESENTAÇÃO COMERCIAL · 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" y="1298448"/>
            <a:ext cx="7498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spc="-1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</a:t>
            </a:r>
            <a:endParaRPr lang="en-US" sz="5800" dirty="0"/>
          </a:p>
        </p:txBody>
      </p:sp>
      <p:sp>
        <p:nvSpPr>
          <p:cNvPr id="7" name="Shape 4"/>
          <p:cNvSpPr/>
          <p:nvPr/>
        </p:nvSpPr>
        <p:spPr>
          <a:xfrm>
            <a:off x="640080" y="2670048"/>
            <a:ext cx="10058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9260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plataforma que transforma encomendas de impressão 3D em experiências de confiança.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598932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white-label  ·  Acompanhamento público  ·  Passaporte digital da peça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2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DESAFIO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Vender impressão 3D ainda é gerir incerteza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44168"/>
            <a:ext cx="475488" cy="411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  ·  Apresentação Comercial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241280" y="6400800"/>
            <a:ext cx="1307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21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57276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processo de fabrico é sofisticado. A comunicação com o comprador continua artesanal.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342900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368296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96112" y="2862072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Comunicação dispersa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96112" y="3374136"/>
            <a:ext cx="29169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Estados de encomenda espalhados por WhatsApp, email e chamadas. O mesmo pedido de informação repete-se todos os dias.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896112" y="4434840"/>
            <a:ext cx="291693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20" b="1" spc="14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CUSTO: TEMPO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4379976" y="2148840"/>
            <a:ext cx="342900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6008" y="2368296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36008" y="2862072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Processo invisível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636008" y="3374136"/>
            <a:ext cx="29169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comprador não vê a peça a nascer. A confiança depende apenas da palavra de quem vende.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4636008" y="4434840"/>
            <a:ext cx="291693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20" b="1" spc="14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CUSTO: CONFIANÇA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8119872" y="2148840"/>
            <a:ext cx="342900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75904" y="2368296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75904" y="2862072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Qualidade sem prova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375904" y="3374136"/>
            <a:ext cx="29169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Depois da entrega não existe um registo verificável do material, dos parâmetros ou da garantia.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8375904" y="4434840"/>
            <a:ext cx="291693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20" b="1" spc="14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CUSTO: MARGEM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640080" y="5138928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EEF2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266944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um ponto único de verdade, o vendedor perde tempo e o comprador perde confiança.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2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SOLUÇÃO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portal com a sua marca, do primeiro estado à última peça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44168"/>
            <a:ext cx="475488" cy="411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  ·  Apresentação Comercial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241280" y="6400800"/>
            <a:ext cx="1307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21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627632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OrbitTrack é um SaaS white-label que liga a oficina ao comprador através de um link privado — sem contas, sem apps e sem fricção.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3063240"/>
            <a:ext cx="347472" cy="347472"/>
          </a:xfrm>
          <a:prstGeom prst="roundRect">
            <a:avLst>
              <a:gd name="adj" fmla="val 3157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113532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96112" y="3611880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do comprador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6112" y="4050792"/>
            <a:ext cx="29169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Timeline, previsão de entrega e fichas técnicas — leitura por concluir.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79976" y="278892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36008" y="3063240"/>
            <a:ext cx="347472" cy="347472"/>
          </a:xfrm>
          <a:prstGeom prst="roundRect">
            <a:avLst>
              <a:gd name="adj" fmla="val 3157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36008" y="3113532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36008" y="3611880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Passaporte digital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36008" y="4050792"/>
            <a:ext cx="29169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Identidade técnica da peça, com certificado verificável previsto.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8119872" y="278892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75904" y="3063240"/>
            <a:ext cx="347472" cy="347472"/>
          </a:xfrm>
          <a:prstGeom prst="roundRect">
            <a:avLst>
              <a:gd name="adj" fmla="val 3157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75904" y="3113532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75904" y="3611880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Documentos com marca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75904" y="4050792"/>
            <a:ext cx="29169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Recibos e certificados com a identidade da oficina (roadmap).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2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PROPOSTA DE VALOR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Quatro razões para mudar a forma como acompanha encomendas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44168"/>
            <a:ext cx="475488" cy="411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  ·  Apresentação Comercial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241280" y="6400800"/>
            <a:ext cx="1307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21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627632"/>
            <a:ext cx="528523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1920240"/>
            <a:ext cx="82296" cy="566928"/>
          </a:xfrm>
          <a:prstGeom prst="roundRect">
            <a:avLst>
              <a:gd name="adj" fmla="val 55556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901952"/>
            <a:ext cx="45079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Menos suporte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143000" y="2377440"/>
            <a:ext cx="45079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4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comprador responde a si próprio na timeline. A equipa concentra-se na produção.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6263640" y="1627632"/>
            <a:ext cx="528523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19672" y="1920240"/>
            <a:ext cx="82296" cy="566928"/>
          </a:xfrm>
          <a:prstGeom prst="roundRect">
            <a:avLst>
              <a:gd name="adj" fmla="val 5555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901952"/>
            <a:ext cx="45079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Preço justificado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766560" y="2377440"/>
            <a:ext cx="45079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4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experiência profissional e um certificado elevam o valor percebido da peça.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640080" y="3721608"/>
            <a:ext cx="528523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4014216"/>
            <a:ext cx="82296" cy="566928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3995928"/>
            <a:ext cx="45079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Confiança verificável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43000" y="4471416"/>
            <a:ext cx="45079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4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peça prevê identidade, número de série e um código público de verificação.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6263640" y="3721608"/>
            <a:ext cx="528523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9672" y="4014216"/>
            <a:ext cx="82296" cy="566928"/>
          </a:xfrm>
          <a:prstGeom prst="roundRect">
            <a:avLst>
              <a:gd name="adj" fmla="val 5555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3995928"/>
            <a:ext cx="45079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 multi-empresa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766560" y="4471416"/>
            <a:ext cx="45079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4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RLS por empresa no desenho. O isolamento ainda não foi provado com testes.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640080" y="587044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Visão de valor. Isolamento por RLS, certificado e documentos são roadmap ou estão por validar.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2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PLATAFORMA, TRÊS EXPERIÊNCIAS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90525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mesmo sistema, três pontos de vista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44168"/>
            <a:ext cx="475488" cy="411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85832" y="411480"/>
            <a:ext cx="1463040" cy="274320"/>
          </a:xfrm>
          <a:prstGeom prst="roundRect">
            <a:avLst>
              <a:gd name="adj" fmla="val 46667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85832" y="411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Parcial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  ·  Apresentação Comercial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241280" y="6400800"/>
            <a:ext cx="1307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21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1645920"/>
            <a:ext cx="3429000" cy="416052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645920"/>
            <a:ext cx="3429000" cy="109728"/>
          </a:xfrm>
          <a:prstGeom prst="roundRect">
            <a:avLst>
              <a:gd name="adj" fmla="val 4166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1901952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VENDEDOR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96112" y="2194560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Painel de gestão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2825496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27432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Autenticação e perfil da empresa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914400" y="3429000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334670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 de encomendas e ficha técnica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914400" y="4032504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395020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Estados configuráveis com cor e mensagem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914400" y="4636008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5568" y="455371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com contagem total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4379976" y="1645920"/>
            <a:ext cx="3429000" cy="416052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79976" y="1645920"/>
            <a:ext cx="3429000" cy="109728"/>
          </a:xfrm>
          <a:prstGeom prst="roundRect">
            <a:avLst>
              <a:gd name="adj" fmla="val 41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36008" y="1901952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COMPRADOR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636008" y="2194560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 privado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654296" y="2825496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55464" y="27432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registo e sem palavra-passe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4654296" y="3429000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55464" y="334670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Estrutura de timeline com datas e mensagens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4654296" y="4032504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55464" y="395020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Previsão de entrega e notas públicas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4654296" y="4636008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55464" y="455371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Contacto direto com a oficina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8119872" y="1645920"/>
            <a:ext cx="3429000" cy="416052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19872" y="1645920"/>
            <a:ext cx="3429000" cy="109728"/>
          </a:xfrm>
          <a:prstGeom prst="roundRect">
            <a:avLst>
              <a:gd name="adj" fmla="val 41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75904" y="1901952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PEÇA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375904" y="2194560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Passaporte digital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8394192" y="282549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0" y="27432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Número de série e data de impressão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8394192" y="342900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95360" y="334670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Material, camada, peso e impressora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8394192" y="403250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95360" y="395020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Visualizador 3D e fotos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8394192" y="463600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95360" y="455371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Certificado com código de verificação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640080" y="587044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Visão funcional. Portal, passaporte e certificados ainda não estão ligados a dados; recibos e QR são roadmap.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2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FUNCIONA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90525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 criação da encomenda à avaliação do comprador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44168"/>
            <a:ext cx="475488" cy="411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85832" y="411480"/>
            <a:ext cx="1463040" cy="274320"/>
          </a:xfrm>
          <a:prstGeom prst="roundRect">
            <a:avLst>
              <a:gd name="adj" fmla="val 46667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85832" y="411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Parcial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  ·  Apresentação Comercial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241280" y="6400800"/>
            <a:ext cx="1307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21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60120" y="2633472"/>
            <a:ext cx="102687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98448" y="2331720"/>
            <a:ext cx="603504" cy="603504"/>
          </a:xfrm>
          <a:prstGeom prst="ellipse">
            <a:avLst/>
          </a:prstGeom>
          <a:solidFill>
            <a:srgbClr val="4F46E5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8448" y="2478024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154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Criar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35204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Encomenda, comprador, itens e ficha técnica.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523183" y="2331720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3183" y="2478024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64815" y="3154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Atualizar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864815" y="35204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Estado, mensagem e fotos do progresso.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5747918" y="2331720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47918" y="2478024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89550" y="3154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Partilhar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89550" y="35204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 privado e QR code para a embalagem.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7972654" y="2331720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72654" y="2478024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4286" y="3154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Acompanhar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314286" y="35204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comprador vê tudo no telemóvel.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10197389" y="2331720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97389" y="2478024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539021" y="3154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Fechar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539021" y="35204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Recibo, certificado e avaliação (roadmap).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640080" y="4800600"/>
            <a:ext cx="10908792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4974336"/>
            <a:ext cx="102687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único link substitui dezenas de mensagens de acompanhamento.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587044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Fluxo-alvo. Nesta versão, criação de encomenda e atualização de estado ainda não estão operacionais.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2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PAINEL DO VENDEDOR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90525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pulso da oficina num único ecrã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44168"/>
            <a:ext cx="475488" cy="411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85832" y="411480"/>
            <a:ext cx="1463040" cy="274320"/>
          </a:xfrm>
          <a:prstGeom prst="roundRect">
            <a:avLst>
              <a:gd name="adj" fmla="val 46667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85832" y="411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Parcial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  ·  Apresentação Comercial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241280" y="6400800"/>
            <a:ext cx="1307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21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1700784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62763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Contagem total de encomendas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40080" y="235915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2860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Configuração de estados por empresa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94436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Perfil white-label com logótipo, capa e cores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40080" y="3675888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602736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Ações de link público e documentos (roadmap)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806440" y="1627632"/>
            <a:ext cx="5742432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06440" y="1627632"/>
            <a:ext cx="5742432" cy="475488"/>
          </a:xfrm>
          <a:prstGeom prst="roundRect">
            <a:avLst>
              <a:gd name="adj" fmla="val 1730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07608" y="17647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Painel  ·  Visão geral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007608" y="2286000"/>
            <a:ext cx="1664208" cy="822960"/>
          </a:xfrm>
          <a:prstGeom prst="roundRect">
            <a:avLst>
              <a:gd name="adj" fmla="val 7778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4768" y="2359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44768" y="274320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Encomendas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818120" y="2286000"/>
            <a:ext cx="1664208" cy="822960"/>
          </a:xfrm>
          <a:prstGeom prst="roundRect">
            <a:avLst>
              <a:gd name="adj" fmla="val 7778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2359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955280" y="274320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produção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9628632" y="2286000"/>
            <a:ext cx="1664208" cy="822960"/>
          </a:xfrm>
          <a:prstGeom prst="roundRect">
            <a:avLst>
              <a:gd name="adj" fmla="val 7778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65792" y="2359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4,8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765792" y="274320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Avaliação média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007608" y="32918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Encomendas por mês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80760" y="4370832"/>
            <a:ext cx="384048" cy="502920"/>
          </a:xfrm>
          <a:prstGeom prst="roundRect">
            <a:avLst>
              <a:gd name="adj" fmla="val 7143"/>
            </a:avLst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93992" y="4050792"/>
            <a:ext cx="384048" cy="822960"/>
          </a:xfrm>
          <a:prstGeom prst="roundRect">
            <a:avLst>
              <a:gd name="adj" fmla="val 7143"/>
            </a:avLst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07224" y="4233672"/>
            <a:ext cx="384048" cy="640080"/>
          </a:xfrm>
          <a:prstGeom prst="roundRect">
            <a:avLst>
              <a:gd name="adj" fmla="val 7143"/>
            </a:avLst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0456" y="3730752"/>
            <a:ext cx="384048" cy="1143000"/>
          </a:xfrm>
          <a:prstGeom prst="roundRect">
            <a:avLst>
              <a:gd name="adj" fmla="val 7143"/>
            </a:avLst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33688" y="3959352"/>
            <a:ext cx="384048" cy="914400"/>
          </a:xfrm>
          <a:prstGeom prst="roundRect">
            <a:avLst>
              <a:gd name="adj" fmla="val 7143"/>
            </a:avLst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46920" y="3547872"/>
            <a:ext cx="384048" cy="1325880"/>
          </a:xfrm>
          <a:prstGeom prst="roundRect">
            <a:avLst>
              <a:gd name="adj" fmla="val 714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360152" y="3776472"/>
            <a:ext cx="384048" cy="1097280"/>
          </a:xfrm>
          <a:prstGeom prst="roundRect">
            <a:avLst>
              <a:gd name="adj" fmla="val 7143"/>
            </a:avLst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07608" y="4919472"/>
            <a:ext cx="53400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50566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2026-0001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178040" y="5074920"/>
            <a:ext cx="914400" cy="164592"/>
          </a:xfrm>
          <a:prstGeom prst="roundRect">
            <a:avLst>
              <a:gd name="adj" fmla="val 27778"/>
            </a:avLst>
          </a:prstGeom>
          <a:solidFill>
            <a:srgbClr val="3B82F6">
              <a:alpha val="1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78040" y="507034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imprimir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6035040" y="53675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2026-0002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178040" y="5385816"/>
            <a:ext cx="914400" cy="164592"/>
          </a:xfrm>
          <a:prstGeom prst="roundRect">
            <a:avLst>
              <a:gd name="adj" fmla="val 27778"/>
            </a:avLst>
          </a:prstGeom>
          <a:solidFill>
            <a:srgbClr val="8B5CF6">
              <a:alpha val="1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78040" y="538124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Acabamento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8348472" y="553212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62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Ilustração de evolução; o dashboard real tem três cartões.</a:t>
            </a:r>
            <a:endParaRPr lang="en-US" sz="620" dirty="0"/>
          </a:p>
        </p:txBody>
      </p:sp>
      <p:sp>
        <p:nvSpPr>
          <p:cNvPr id="46" name="Text 44"/>
          <p:cNvSpPr/>
          <p:nvPr/>
        </p:nvSpPr>
        <p:spPr>
          <a:xfrm>
            <a:off x="640080" y="587044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Apenas a contagem total é calculada. O mock ilustra a evolução; link, recibo e certificado não estão disponíveis.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2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GESTÃO DE ENCOMENDAS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90525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contexto que cada encomenda pode reunir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44168"/>
            <a:ext cx="475488" cy="411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85832" y="411480"/>
            <a:ext cx="1463040" cy="274320"/>
          </a:xfrm>
          <a:prstGeom prst="roundRect">
            <a:avLst>
              <a:gd name="adj" fmla="val 46667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85832" y="411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Parcial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  ·  Apresentação Comercial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241280" y="6400800"/>
            <a:ext cx="1307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21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736092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600200"/>
                <a:gridCol w="1508760"/>
                <a:gridCol w="1234440"/>
                <a:gridCol w="11430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Encomenda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Comprador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Estado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Previsão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2026-0001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Ana Martins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F46E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imprimir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12/11/2026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84,90 €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2026-0002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João Silva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F46E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Acabamento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18/11/2026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129,00 €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2026-0003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Rita Costa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F46E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Enviada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21/11/2026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47,50 €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40080" y="3474720"/>
            <a:ext cx="7360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Dados de exemplo. Não representam clientes reais.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8321040" y="1810512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49640" y="17373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4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Dados do comprador: nome, email e telefone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8321040" y="26517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49640" y="2578608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4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Itens com material, cor, camada, enchimento, peso e impressora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321040" y="3493008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49640" y="3419856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4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Notas públicas e notas internas separadas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8321040" y="4334256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49640" y="4261104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4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Previsão de entrega no modelo; histórico por ligar</a:t>
            </a:r>
            <a:endParaRPr lang="en-US" sz="940" dirty="0"/>
          </a:p>
        </p:txBody>
      </p:sp>
      <p:sp>
        <p:nvSpPr>
          <p:cNvPr id="20" name="Shape 17"/>
          <p:cNvSpPr/>
          <p:nvPr/>
        </p:nvSpPr>
        <p:spPr>
          <a:xfrm>
            <a:off x="640080" y="4526280"/>
            <a:ext cx="7360920" cy="82296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8680" y="4901184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33272" y="48188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Ficha técnica completa</a:t>
            </a:r>
            <a:endParaRPr lang="en-US" sz="780" dirty="0"/>
          </a:p>
        </p:txBody>
      </p:sp>
      <p:sp>
        <p:nvSpPr>
          <p:cNvPr id="23" name="Shape 20"/>
          <p:cNvSpPr/>
          <p:nvPr/>
        </p:nvSpPr>
        <p:spPr>
          <a:xfrm>
            <a:off x="3291840" y="4901184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56432" y="48188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Histórico planeado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5715000" y="4901184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79592" y="48188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Notas separadas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640080" y="587044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Apenas a listagem está implementada. A criação falha por numero_encomenda; a edição está vazia e as ações não têm handlers.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2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ESTADOS CONFIGURÁVEIS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90525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processo da sua oficina, não o nosso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44168"/>
            <a:ext cx="475488" cy="411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85832" y="411480"/>
            <a:ext cx="1463040" cy="274320"/>
          </a:xfrm>
          <a:prstGeom prst="roundRect">
            <a:avLst>
              <a:gd name="adj" fmla="val 46667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85832" y="411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Parcial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  ·  Apresentação Comercial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241280" y="6400800"/>
            <a:ext cx="1307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21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060704" y="1847088"/>
            <a:ext cx="0" cy="356616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1737360"/>
            <a:ext cx="219456" cy="219456"/>
          </a:xfrm>
          <a:prstGeom prst="ellipse">
            <a:avLst/>
          </a:prstGeom>
          <a:solidFill>
            <a:srgbClr val="94A3B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44168" y="171907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Recebida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44168" y="19202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mensagem opcional e fotos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960120" y="2249424"/>
            <a:ext cx="219456" cy="21945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44168" y="223113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fila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44168" y="243230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mensagem opcional e fotos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960120" y="2761488"/>
            <a:ext cx="219456" cy="219456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44168" y="27432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imprimir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44168" y="294436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mensagem opcional e fotos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960120" y="3273552"/>
            <a:ext cx="219456" cy="219456"/>
          </a:xfrm>
          <a:prstGeom prst="ellipse">
            <a:avLst/>
          </a:prstGeom>
          <a:solidFill>
            <a:srgbClr val="8B5C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44168" y="325526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Acabamento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44168" y="34564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mensagem opcional e fotos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960120" y="3785616"/>
            <a:ext cx="219456" cy="219456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44168" y="37673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Controlo de qualidade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44168" y="3968496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mensagem opcional e fotos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960120" y="4297680"/>
            <a:ext cx="219456" cy="219456"/>
          </a:xfrm>
          <a:prstGeom prst="ellipse">
            <a:avLst/>
          </a:prstGeom>
          <a:solidFill>
            <a:srgbClr val="F9731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44168" y="42793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Enviada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44168" y="44805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mensagem opcional e fotos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960120" y="4809744"/>
            <a:ext cx="219456" cy="219456"/>
          </a:xfrm>
          <a:prstGeom prst="ellipse">
            <a:avLst/>
          </a:prstGeom>
          <a:solidFill>
            <a:srgbClr val="22C55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44168" y="47914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Entregue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83480" y="1691640"/>
            <a:ext cx="6355080" cy="374904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0" y="19202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Configuração por empresa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303520" y="2359152"/>
            <a:ext cx="292608" cy="292608"/>
          </a:xfrm>
          <a:prstGeom prst="roundRect">
            <a:avLst>
              <a:gd name="adj" fmla="val 31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0" y="2400300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733288" y="2359152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empresa define nome, ordem, cor e mensagem padrão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5303520" y="2962656"/>
            <a:ext cx="292608" cy="292608"/>
          </a:xfrm>
          <a:prstGeom prst="roundRect">
            <a:avLst>
              <a:gd name="adj" fmla="val 31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0" y="3003804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733288" y="2962656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Histórico previsto com data, estado e mensagem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5303520" y="3566160"/>
            <a:ext cx="292608" cy="292608"/>
          </a:xfrm>
          <a:prstGeom prst="roundRect">
            <a:avLst>
              <a:gd name="adj" fmla="val 31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0" y="3607308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733288" y="35661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timeline deverá ser a mesma que o comprador vê no link privado</a:t>
            </a:r>
            <a:endParaRPr lang="en-US" sz="960" dirty="0"/>
          </a:p>
        </p:txBody>
      </p:sp>
      <p:sp>
        <p:nvSpPr>
          <p:cNvPr id="42" name="Shape 40"/>
          <p:cNvSpPr/>
          <p:nvPr/>
        </p:nvSpPr>
        <p:spPr>
          <a:xfrm>
            <a:off x="5303520" y="4169664"/>
            <a:ext cx="292608" cy="292608"/>
          </a:xfrm>
          <a:prstGeom prst="roundRect">
            <a:avLst>
              <a:gd name="adj" fmla="val 31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0" y="4210812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733288" y="4169664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Fotos e mensagens por fase (roadmap)</a:t>
            </a:r>
            <a:endParaRPr lang="en-US" sz="960" dirty="0"/>
          </a:p>
        </p:txBody>
      </p:sp>
      <p:sp>
        <p:nvSpPr>
          <p:cNvPr id="45" name="Shape 43"/>
          <p:cNvSpPr/>
          <p:nvPr/>
        </p:nvSpPr>
        <p:spPr>
          <a:xfrm>
            <a:off x="5303520" y="4773168"/>
            <a:ext cx="292608" cy="292608"/>
          </a:xfrm>
          <a:prstGeom prst="roundRect">
            <a:avLst>
              <a:gd name="adj" fmla="val 31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0" y="4814316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733288" y="477316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Estados iniciais prontos a usar, mas totalmente editáveis</a:t>
            </a:r>
            <a:endParaRPr lang="en-US" sz="960" dirty="0"/>
          </a:p>
        </p:txBody>
      </p:sp>
      <p:sp>
        <p:nvSpPr>
          <p:cNvPr id="48" name="Text 46"/>
          <p:cNvSpPr/>
          <p:nvPr/>
        </p:nvSpPr>
        <p:spPr>
          <a:xfrm>
            <a:off x="640080" y="587044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Configuração de estados implementada. Alteração de estado, histórico e fotos ainda não estão ligados.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2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DO COMPRADOR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90525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experiência mobile-first, sem login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44168"/>
            <a:ext cx="475488" cy="411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85832" y="411480"/>
            <a:ext cx="1463040" cy="274320"/>
          </a:xfrm>
          <a:prstGeom prst="roundRect">
            <a:avLst>
              <a:gd name="adj" fmla="val 46667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85832" y="411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Parcial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  ·  Apresentação Comercial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241280" y="6400800"/>
            <a:ext cx="1307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21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17282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664208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 único de 36 caracteres aleatórios, sem sequência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40080" y="247802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414016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Cabeçalho com logótipo, capa e cores da empresa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40080" y="322783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163824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 atual em destaque e barra de progresso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913632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Estrutura de timeline com datas, mensagens e fotos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40080" y="472744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663440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Fichas técnicas das peças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8001000" y="1417320"/>
            <a:ext cx="3063240" cy="4617720"/>
          </a:xfrm>
          <a:prstGeom prst="roundRect">
            <a:avLst>
              <a:gd name="adj" fmla="val 835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01584" y="1517904"/>
            <a:ext cx="2862072" cy="4416552"/>
          </a:xfrm>
          <a:prstGeom prst="roundRect">
            <a:avLst>
              <a:gd name="adj" fmla="val 70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01584" y="1517904"/>
            <a:ext cx="2862072" cy="960120"/>
          </a:xfrm>
          <a:prstGeom prst="roundRect">
            <a:avLst>
              <a:gd name="adj" fmla="val 20952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01584" y="2203704"/>
            <a:ext cx="2862072" cy="2743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57032" y="198424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57032" y="2084832"/>
            <a:ext cx="475488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2057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sua oficina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823960" y="22585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Encomenda 2026-0001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8257032" y="2587752"/>
            <a:ext cx="2551176" cy="777240"/>
          </a:xfrm>
          <a:prstGeom prst="roundRect">
            <a:avLst>
              <a:gd name="adj" fmla="val 9412"/>
            </a:avLst>
          </a:prstGeom>
          <a:solidFill>
            <a:srgbClr val="EEF2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85048" y="267919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80" b="1" spc="1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 ATUAL</a:t>
            </a:r>
            <a:endParaRPr lang="en-US" sz="580" dirty="0"/>
          </a:p>
        </p:txBody>
      </p:sp>
      <p:sp>
        <p:nvSpPr>
          <p:cNvPr id="30" name="Text 28"/>
          <p:cNvSpPr/>
          <p:nvPr/>
        </p:nvSpPr>
        <p:spPr>
          <a:xfrm>
            <a:off x="8385048" y="284378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imprimir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385048" y="313639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Previsão: 12/11/2026</a:t>
            </a:r>
            <a:endParaRPr lang="en-US" sz="620" dirty="0"/>
          </a:p>
        </p:txBody>
      </p:sp>
      <p:sp>
        <p:nvSpPr>
          <p:cNvPr id="32" name="Shape 30"/>
          <p:cNvSpPr/>
          <p:nvPr/>
        </p:nvSpPr>
        <p:spPr>
          <a:xfrm>
            <a:off x="8385048" y="3593592"/>
            <a:ext cx="118872" cy="1188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44484" y="3712464"/>
            <a:ext cx="0" cy="448056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04504" y="355701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imprimir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8604504" y="3739896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12/11/2026  ·  14:20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8385048" y="4160520"/>
            <a:ext cx="118872" cy="11887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44484" y="4279392"/>
            <a:ext cx="0" cy="448056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04504" y="412394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fila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8604504" y="4306824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12/11/2026  ·  14:20</a:t>
            </a:r>
            <a:endParaRPr lang="en-US" sz="550" dirty="0"/>
          </a:p>
        </p:txBody>
      </p:sp>
      <p:sp>
        <p:nvSpPr>
          <p:cNvPr id="40" name="Shape 38"/>
          <p:cNvSpPr/>
          <p:nvPr/>
        </p:nvSpPr>
        <p:spPr>
          <a:xfrm>
            <a:off x="8385048" y="4727448"/>
            <a:ext cx="118872" cy="11887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04504" y="469087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Recebida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8604504" y="487375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12/11/2026  ·  14:20</a:t>
            </a:r>
            <a:endParaRPr lang="en-US" sz="550" dirty="0"/>
          </a:p>
        </p:txBody>
      </p:sp>
      <p:sp>
        <p:nvSpPr>
          <p:cNvPr id="43" name="Shape 41"/>
          <p:cNvSpPr/>
          <p:nvPr/>
        </p:nvSpPr>
        <p:spPr>
          <a:xfrm>
            <a:off x="8293608" y="5394960"/>
            <a:ext cx="2478024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93608" y="5477256"/>
            <a:ext cx="247802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 passaporte da peça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640080" y="587044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 implementada; leitura de dados por RPC, recibo e certificado por concluir.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2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PASSAPORTE DIGITAL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90525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peça deixa de ser anónima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44168"/>
            <a:ext cx="475488" cy="411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85832" y="411480"/>
            <a:ext cx="1463040" cy="274320"/>
          </a:xfrm>
          <a:prstGeom prst="roundRect">
            <a:avLst>
              <a:gd name="adj" fmla="val 4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85832" y="411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desenvolvimento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  ·  Apresentação Comercial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241280" y="6400800"/>
            <a:ext cx="1307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21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1664208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1901952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19568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6112" y="2395728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Ficha técnica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96112" y="2798064"/>
            <a:ext cx="29169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Material, cor, altura de camada, enchimento, tempo, peso e impressora.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4379976" y="1664208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36008" y="1901952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36008" y="19568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36008" y="2395728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Visualizador 3D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636008" y="2798064"/>
            <a:ext cx="29169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Componente GLB/GLTF com rotação e zoom; STL ainda não suportado.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8119872" y="1664208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75904" y="1901952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75904" y="19568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75904" y="2395728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Proveniência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375904" y="2798064"/>
            <a:ext cx="29169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Número de série, data de impressão, fotos e certificado associado.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40080" y="4315968"/>
            <a:ext cx="10908792" cy="1234440"/>
          </a:xfrm>
          <a:prstGeom prst="roundRect">
            <a:avLst>
              <a:gd name="adj" fmla="val 740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526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NÚMERO DE SÉRIE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005840" y="4773168"/>
            <a:ext cx="101772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OT-2026-0042 · PLA PRETO · 0,20 mm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05840" y="5212080"/>
            <a:ext cx="1017727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Ficha técnica, fotos, modelo 3D e certificado associados à peça.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40080" y="587044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Página e modelo de dados estruturados. Leitura pública e visualizador ainda não ligados.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2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CERTIFICAÇÃO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90525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selo com verificação pública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44168"/>
            <a:ext cx="475488" cy="411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85832" y="411480"/>
            <a:ext cx="1463040" cy="274320"/>
          </a:xfrm>
          <a:prstGeom prst="roundRect">
            <a:avLst>
              <a:gd name="adj" fmla="val 46667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85832" y="411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Parcial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  ·  Apresentação Comercial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241280" y="6400800"/>
            <a:ext cx="1307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21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097280" y="2194560"/>
            <a:ext cx="2103120" cy="2103120"/>
          </a:xfrm>
          <a:prstGeom prst="ellipse">
            <a:avLst/>
          </a:prstGeom>
          <a:solidFill>
            <a:srgbClr val="FFF7ED"/>
          </a:solidFill>
          <a:ln w="3175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25880" y="2423160"/>
            <a:ext cx="1645920" cy="1645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286207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325880" y="3063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25880" y="344728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b="1" spc="12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AUTENTICIDADE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822960" y="461772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7091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 VERIFICAÇÃO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005840" y="4892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spc="150" kern="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AB7K-92QX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977640" y="1691640"/>
            <a:ext cx="28346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18562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Bronze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06240" y="21945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Verificação essencial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355080" y="1984248"/>
            <a:ext cx="292608" cy="29260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77640" y="2834640"/>
            <a:ext cx="28346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0" y="29992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Prata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06240" y="33375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Controlo de qualidade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355080" y="3127248"/>
            <a:ext cx="292608" cy="29260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77640" y="3977640"/>
            <a:ext cx="28346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0" y="41422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162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06240" y="44805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Processo completo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355080" y="4270248"/>
            <a:ext cx="292608" cy="292608"/>
          </a:xfrm>
          <a:prstGeom prst="ellipse">
            <a:avLst/>
          </a:prstGeom>
          <a:solidFill>
            <a:srgbClr val="A16207"/>
          </a:solidFill>
          <a:ln w="12700">
            <a:solidFill>
              <a:srgbClr val="A1620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0" y="1847088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52360" y="17830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único por certificado no modelo de dados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7223760" y="2651760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52360" y="2587752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RPC prevê empresa, peça, data de emissão e selo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7223760" y="3456432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52360" y="3392424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Critérios de qualidade previstos por empresa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7223760" y="4261104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52360" y="4197096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Garantia configurável no modelo (meses)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640080" y="587044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Modelo, RPC e interface base definidos. Emissão por concluir; a verificação pública ainda está bloqueada por RLS.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2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DOCUMENTOS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90525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Recibos e certificados com a identidade da oficina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44168"/>
            <a:ext cx="475488" cy="411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85832" y="411480"/>
            <a:ext cx="1463040" cy="274320"/>
          </a:xfrm>
          <a:prstGeom prst="roundRect">
            <a:avLst>
              <a:gd name="adj" fmla="val 4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85832" y="411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desenvolvimento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  ·  Apresentação Comercial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241280" y="6400800"/>
            <a:ext cx="1307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21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1664208"/>
            <a:ext cx="34290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1901952"/>
            <a:ext cx="502920" cy="6400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9264" y="2011680"/>
            <a:ext cx="356616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9264" y="2121408"/>
            <a:ext cx="256032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9264" y="2212848"/>
            <a:ext cx="310896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697480"/>
            <a:ext cx="291693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Recibo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96112" y="3063240"/>
            <a:ext cx="29169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Número sequencial por empresa, data, valor, método de pagamento e observações.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4379976" y="1664208"/>
            <a:ext cx="34290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36008" y="1901952"/>
            <a:ext cx="502920" cy="6400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011680"/>
            <a:ext cx="356616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2121408"/>
            <a:ext cx="256032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212848"/>
            <a:ext cx="310896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36008" y="2697480"/>
            <a:ext cx="291693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Certificado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36008" y="3063240"/>
            <a:ext cx="29169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Selo gráfico, critérios verificados, garantia, código e QR de verificação.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8119872" y="1664208"/>
            <a:ext cx="34290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75904" y="1901952"/>
            <a:ext cx="502920" cy="6400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49056" y="2011680"/>
            <a:ext cx="356616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49056" y="2121408"/>
            <a:ext cx="256032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49056" y="2212848"/>
            <a:ext cx="310896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75904" y="2697480"/>
            <a:ext cx="291693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Cartão QR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75904" y="3063240"/>
            <a:ext cx="29169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Formato para imprimir e colar na embalagem ou na própria peça.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640080" y="4069080"/>
            <a:ext cx="1090879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4251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RECIBO  ·  REC-2026-0007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960120" y="4526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84,90 €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017520" y="4572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 Martins  ·  12/11/2026  ·  Transferência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60120" y="5074920"/>
            <a:ext cx="102687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" y="5193792"/>
            <a:ext cx="1026871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Documento ilustrativo; a geração ainda não está ligada.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40080" y="587044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Esqueleto de geração em jsPDF. Layout final, logótipo e QR por integrar.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2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LIGAÇÃO FÍSICO-DIGITAL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90525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QR code que continua a funcionar anos depois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44168"/>
            <a:ext cx="475488" cy="411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85832" y="411480"/>
            <a:ext cx="1463040" cy="274320"/>
          </a:xfrm>
          <a:prstGeom prst="roundRect">
            <a:avLst>
              <a:gd name="adj" fmla="val 46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85832" y="411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338C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Planeado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  ·  Apresentação Comercial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241280" y="6400800"/>
            <a:ext cx="1307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21</a:t>
            </a:r>
            <a:endParaRPr lang="en-US" sz="800" dirty="0"/>
          </a:p>
        </p:txBody>
      </p:sp>
      <p:pic>
        <p:nvPicPr>
          <p:cNvPr id="10" name="Image 0" descr="C:\Users\devel\Downloads\Orbitdev\orbittrack\entrega\logo\qr-exemp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2514600" cy="2514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4389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de exemplo — aponta para um domínio ilustrativo.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977640" y="1783080"/>
            <a:ext cx="73152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33672" y="2039112"/>
            <a:ext cx="402336" cy="402336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33672" y="2112264"/>
            <a:ext cx="402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18888" y="19476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Imprimir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18888" y="22585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Cartão com QR e número da peça.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977640" y="2926080"/>
            <a:ext cx="73152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33672" y="3182112"/>
            <a:ext cx="402336" cy="402336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33672" y="3255264"/>
            <a:ext cx="402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818888" y="30906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Colar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818888" y="34015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 embalagem ou na base da peça.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977640" y="4069080"/>
            <a:ext cx="73152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233672" y="4325112"/>
            <a:ext cx="402336" cy="402336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233672" y="4398264"/>
            <a:ext cx="402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18888" y="42336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Verificar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818888" y="45445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cliente abre o passaporte no telemóvel.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40080" y="587044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Biblioteca de QR instalada. Geração, download PNG/PDF e cartão de embalagem por implementar.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2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WHITE-LABEL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90525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sua marca em cada ponto de contacto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44168"/>
            <a:ext cx="475488" cy="411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85832" y="411480"/>
            <a:ext cx="1463040" cy="274320"/>
          </a:xfrm>
          <a:prstGeom prst="roundRect">
            <a:avLst>
              <a:gd name="adj" fmla="val 46667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85832" y="411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Parcial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  ·  Apresentação Comercial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241280" y="6400800"/>
            <a:ext cx="1307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21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1737360"/>
            <a:ext cx="1097280" cy="868680"/>
          </a:xfrm>
          <a:prstGeom prst="roundRect">
            <a:avLst>
              <a:gd name="adj" fmla="val 8421"/>
            </a:avLst>
          </a:prstGeom>
          <a:solidFill>
            <a:srgbClr val="4F46E5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974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Indigo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40080" y="28803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#4F46E5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057400" y="1737360"/>
            <a:ext cx="1097280" cy="868680"/>
          </a:xfrm>
          <a:prstGeom prst="roundRect">
            <a:avLst>
              <a:gd name="adj" fmla="val 8421"/>
            </a:avLst>
          </a:prstGeom>
          <a:solidFill>
            <a:srgbClr val="10B98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57400" y="26974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Esmeralda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057400" y="28803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#10B981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474720" y="1737360"/>
            <a:ext cx="1097280" cy="868680"/>
          </a:xfrm>
          <a:prstGeom prst="roundRect">
            <a:avLst>
              <a:gd name="adj" fmla="val 8421"/>
            </a:avLst>
          </a:prstGeom>
          <a:solidFill>
            <a:srgbClr val="F59E0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6974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Âmbar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474720" y="28803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#F59E0B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892040" y="1737360"/>
            <a:ext cx="10972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6974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Grafite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892040" y="28803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#0F172A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309360" y="1737360"/>
            <a:ext cx="109728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26974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309360" y="28803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#F8FAFC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40080" y="3401568"/>
            <a:ext cx="100584" cy="10058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333756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Cores guardadas no perfil da empresa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640080" y="3968496"/>
            <a:ext cx="100584" cy="10058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" y="390448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Logótipo e foto de capa associados ao perfil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640080" y="4535424"/>
            <a:ext cx="100584" cy="10058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" y="4471416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Rodapé e contactos editáveis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640080" y="5102352"/>
            <a:ext cx="100584" cy="10058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" y="5038344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Aplicação aos PDFs e certificado (roadmap)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7635240" y="1645920"/>
            <a:ext cx="3913632" cy="4160520"/>
          </a:xfrm>
          <a:prstGeom prst="roundRect">
            <a:avLst>
              <a:gd name="adj" fmla="val 21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0" y="1783080"/>
            <a:ext cx="3639312" cy="868680"/>
          </a:xfrm>
          <a:prstGeom prst="roundRect">
            <a:avLst>
              <a:gd name="adj" fmla="val 10526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27848" y="19202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95360" y="19385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sua marca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595360" y="21945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Encomenda 2026-0001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7909560" y="2926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imprimir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7909560" y="3520440"/>
            <a:ext cx="3291840" cy="91440"/>
          </a:xfrm>
          <a:prstGeom prst="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09560" y="3520440"/>
            <a:ext cx="1828800" cy="91440"/>
          </a:xfrm>
          <a:prstGeom prst="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09560" y="3886200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38160" y="3840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imprimir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909560" y="4343400"/>
            <a:ext cx="128016" cy="128016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38160" y="4297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fila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909560" y="4800600"/>
            <a:ext cx="128016" cy="128016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38160" y="47548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Recebida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909560" y="544068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8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Pré-visualização do portal do comprador</a:t>
            </a:r>
            <a:endParaRPr lang="en-US" sz="680" dirty="0"/>
          </a:p>
        </p:txBody>
      </p:sp>
      <p:sp>
        <p:nvSpPr>
          <p:cNvPr id="48" name="Text 46"/>
          <p:cNvSpPr/>
          <p:nvPr/>
        </p:nvSpPr>
        <p:spPr>
          <a:xfrm>
            <a:off x="640080" y="587044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Perfil, contactos e cores guardados. Aplicação aos PDFs/certificado por concluir; uploads sem validação.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2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SEGURANÇA E ISOLAMENTO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90525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Multi-empresa desde a primeira tabela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44168"/>
            <a:ext cx="475488" cy="411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85832" y="411480"/>
            <a:ext cx="1463040" cy="274320"/>
          </a:xfrm>
          <a:prstGeom prst="roundRect">
            <a:avLst>
              <a:gd name="adj" fmla="val 46667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85832" y="411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Parcial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  ·  Apresentação Comercial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241280" y="6400800"/>
            <a:ext cx="1307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/ 21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164592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184708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92808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98448" y="18470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 Level Security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226771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linha é filtrada por empresa_id e auth.uid().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4379976" y="164592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08576" y="184708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8576" y="1892808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38344" y="18470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Tokens públicos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608576" y="226771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24+ caracteres aleatórios; sem sequência nem enumeração.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8119872" y="164592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48472" y="184708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48472" y="1892808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778240" y="18470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RPC dedicadas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348472" y="226771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Desenhadas para o público ler apenas o que a função devolve; integração por concluir.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640080" y="3310128"/>
            <a:ext cx="10908792" cy="2011680"/>
          </a:xfrm>
          <a:prstGeom prst="roundRect">
            <a:avLst>
              <a:gd name="adj" fmla="val 4545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35204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RISCOS IDENTIFICADOS NA AUDITORIA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60120" y="3922776"/>
            <a:ext cx="73152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70432" y="38404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7835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Buckets atualmente públicos — migrar para privado + URLs assinadas.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960120" y="4361688"/>
            <a:ext cx="73152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70432" y="427939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7835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Páginas públicas consultam tabelas diretamente — usar as RPC já criadas.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960120" y="4800600"/>
            <a:ext cx="73152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70432" y="471830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7835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testes automatizados de RLS nem rate limiting.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640080" y="587044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 RLS e funções definidos. Faltam testes de isolamento e revisão das políticas de Storage.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2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ARQUITETURA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stack atual, simples de operar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44168"/>
            <a:ext cx="475488" cy="411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  ·  Apresentação Comercial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241280" y="6400800"/>
            <a:ext cx="1307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/ 21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342900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91640"/>
            <a:ext cx="3429000" cy="91440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920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96112" y="2212848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Experiência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6112" y="2788920"/>
            <a:ext cx="291693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 + Vite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96112" y="3136392"/>
            <a:ext cx="2916936" cy="0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246120"/>
            <a:ext cx="291693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96112" y="3593592"/>
            <a:ext cx="2916936" cy="0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703320"/>
            <a:ext cx="291693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 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96112" y="4050792"/>
            <a:ext cx="2916936" cy="0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160520"/>
            <a:ext cx="291693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Router 7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79976" y="1691640"/>
            <a:ext cx="342900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79976" y="1691640"/>
            <a:ext cx="3429000" cy="91440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36008" y="1920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36008" y="2212848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Serviços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36008" y="2788920"/>
            <a:ext cx="291693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Auth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36008" y="3136392"/>
            <a:ext cx="2916936" cy="0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36008" y="3246120"/>
            <a:ext cx="291693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+ RLS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36008" y="3593592"/>
            <a:ext cx="2916936" cy="0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36008" y="3703320"/>
            <a:ext cx="291693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36008" y="4050792"/>
            <a:ext cx="2916936" cy="0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36008" y="4160520"/>
            <a:ext cx="291693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Funções RPC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119872" y="1691640"/>
            <a:ext cx="342900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19872" y="1691640"/>
            <a:ext cx="3429000" cy="91440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75904" y="1920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75904" y="2212848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Conteúdo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75904" y="2788920"/>
            <a:ext cx="291693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three.js + React Three Fiber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375904" y="3136392"/>
            <a:ext cx="2916936" cy="0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75904" y="3246120"/>
            <a:ext cx="291693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jsPDF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375904" y="3593592"/>
            <a:ext cx="2916936" cy="0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75904" y="3703320"/>
            <a:ext cx="291693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qrcode.react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375904" y="4050792"/>
            <a:ext cx="2916936" cy="0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75904" y="4160520"/>
            <a:ext cx="291693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date-fns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0080" y="4983480"/>
            <a:ext cx="10908792" cy="594360"/>
          </a:xfrm>
          <a:prstGeom prst="roundRect">
            <a:avLst>
              <a:gd name="adj" fmla="val 1230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5138928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previsto: Vercel (SPA com rewrites para rotas profundas).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2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 ATUAL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existe hoje, sem promessas que não possam ser cumpridas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44168"/>
            <a:ext cx="475488" cy="411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  ·  Apresentação Comercial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241280" y="6400800"/>
            <a:ext cx="1307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/ 21</a:t>
            </a:r>
            <a:endParaRPr lang="en-US" sz="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72768"/>
          <a:ext cx="10908792" cy="914400"/>
        </p:xfrm>
        <a:graphic>
          <a:graphicData uri="http://schemas.openxmlformats.org/drawingml/2006/table">
            <a:tbl>
              <a:tblPr/>
              <a:tblGrid>
                <a:gridCol w="7772400"/>
                <a:gridCol w="3136392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Módulo / funcionalidade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Estado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Autenticação, sessão e recuperação</a:t>
                      </a:r>
                      <a:endParaRPr lang="en-US" sz="8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B4530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■  Parcial</a:t>
                      </a:r>
                      <a:endParaRPr lang="en-US" sz="8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Perfil white-label da empresa</a:t>
                      </a:r>
                      <a:endParaRPr lang="en-US" sz="8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B4530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■  Parcial</a:t>
                      </a:r>
                      <a:endParaRPr lang="en-US" sz="8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Criação e listagem de encomendas</a:t>
                      </a:r>
                      <a:endParaRPr lang="en-US" sz="8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BE12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■  Bloqueado</a:t>
                      </a:r>
                      <a:endParaRPr lang="en-US" sz="8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Configuração de estados por empresa</a:t>
                      </a:r>
                      <a:endParaRPr lang="en-US" sz="8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B4530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■  Parcial</a:t>
                      </a:r>
                      <a:endParaRPr lang="en-US" sz="8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Dashboard com indicadores de gestão</a:t>
                      </a:r>
                      <a:endParaRPr lang="en-US" sz="8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B4530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■  Parcial</a:t>
                      </a:r>
                      <a:endParaRPr lang="en-US" sz="8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Portal público de acompanhamento</a:t>
                      </a:r>
                      <a:endParaRPr lang="en-US" sz="8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BE12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■  Bloqueado</a:t>
                      </a:r>
                      <a:endParaRPr lang="en-US" sz="8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Passaporte digital da peça</a:t>
                      </a:r>
                      <a:endParaRPr lang="en-US" sz="8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BE12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■  Bloqueado</a:t>
                      </a:r>
                      <a:endParaRPr lang="en-US" sz="8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Certificados e verificação pública</a:t>
                      </a:r>
                      <a:endParaRPr lang="en-US" sz="8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BE12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■  Bloqueado</a:t>
                      </a:r>
                      <a:endParaRPr lang="en-US" sz="8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Recibos e cartões QR em PDF</a:t>
                      </a:r>
                      <a:endParaRPr lang="en-US" sz="8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■  Em desenvolvimento</a:t>
                      </a:r>
                      <a:endParaRPr lang="en-US" sz="8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Pesquisa, filtros e edição de encomendas</a:t>
                      </a:r>
                      <a:endParaRPr lang="en-US" sz="8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■  Em desenvolvimento</a:t>
                      </a:r>
                      <a:endParaRPr lang="en-US" sz="8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Testes automatizados e validação de RLS</a:t>
                      </a:r>
                      <a:endParaRPr lang="en-US" sz="8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4338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■  Planeado</a:t>
                      </a:r>
                      <a:endParaRPr lang="en-US" sz="8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Notificações automáticas e pagamentos</a:t>
                      </a:r>
                      <a:endParaRPr lang="en-US" sz="8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4338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■  Planeado</a:t>
                      </a:r>
                      <a:endParaRPr lang="en-US" sz="8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989320"/>
            <a:ext cx="1090879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2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Nenhum item está validado ponta a ponta. Matriz detalhada na documentação técnica.</a:t>
            </a:r>
            <a:endParaRPr lang="en-US" sz="7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2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CASOS DE UTILIZAÇÃO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quem constrói por encomenda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44168"/>
            <a:ext cx="475488" cy="411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  ·  Apresentação Comercial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241280" y="6400800"/>
            <a:ext cx="1307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/ 21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664208"/>
            <a:ext cx="3429000" cy="38862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874520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ESTÚDIO DE PROTOTIPAGEM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96112" y="2331720"/>
            <a:ext cx="29169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Muitas encomendas, pouca margem para suporte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96112" y="3246120"/>
            <a:ext cx="29169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4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Precisa de reduzir mensagens repetitivas e dar previsibilidade a clientes empresariais.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896112" y="4526280"/>
            <a:ext cx="2916936" cy="777240"/>
          </a:xfrm>
          <a:prstGeom prst="roundRect">
            <a:avLst>
              <a:gd name="adj" fmla="val 7059"/>
            </a:avLst>
          </a:prstGeom>
          <a:solidFill>
            <a:srgbClr val="ECFDF5"/>
          </a:solidFill>
          <a:ln w="9525">
            <a:solidFill>
              <a:srgbClr val="D1F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4645152"/>
            <a:ext cx="26609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Ganho: menos interrupções, mais horas de máquina.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4379976" y="1664208"/>
            <a:ext cx="3429000" cy="38862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6008" y="1874520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PEÇAS PERSONALIZADAS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636008" y="2331720"/>
            <a:ext cx="29169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peça é única e vale contar essa história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36008" y="3246120"/>
            <a:ext cx="29169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4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Vende para particulares que valorizam proveniência, fotos e garantia.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4636008" y="4526280"/>
            <a:ext cx="2916936" cy="777240"/>
          </a:xfrm>
          <a:prstGeom prst="roundRect">
            <a:avLst>
              <a:gd name="adj" fmla="val 7059"/>
            </a:avLst>
          </a:prstGeom>
          <a:solidFill>
            <a:srgbClr val="ECFDF5"/>
          </a:solidFill>
          <a:ln w="9525">
            <a:solidFill>
              <a:srgbClr val="D1FA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64024" y="4645152"/>
            <a:ext cx="26609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Ganho: preço premium sustentado por um passaporte digital.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8119872" y="1664208"/>
            <a:ext cx="3429000" cy="38862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75904" y="1874520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PEQUENO FABRICANTE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375904" y="2331720"/>
            <a:ext cx="29169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Reposições e séries curtas ao longo dos anos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75904" y="3246120"/>
            <a:ext cx="29169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4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Precisa de manter o histórico de parâmetros e materiais por número de série.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8375904" y="4526280"/>
            <a:ext cx="2916936" cy="777240"/>
          </a:xfrm>
          <a:prstGeom prst="roundRect">
            <a:avLst>
              <a:gd name="adj" fmla="val 7059"/>
            </a:avLst>
          </a:prstGeom>
          <a:solidFill>
            <a:srgbClr val="ECFDF5"/>
          </a:solidFill>
          <a:ln w="9525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0" y="4645152"/>
            <a:ext cx="26609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Ganho: reposições mais rápidas e menos erros.</a:t>
            </a:r>
            <a:endParaRPr lang="en-US" sz="8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2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Três horizontes, sem datas inventadas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44168"/>
            <a:ext cx="475488" cy="411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6345936"/>
            <a:ext cx="109087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  ·  Apresentação Comercial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241280" y="6400800"/>
            <a:ext cx="1307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/ 21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664208"/>
            <a:ext cx="3429000" cy="397764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1874520"/>
            <a:ext cx="914400" cy="274320"/>
          </a:xfrm>
          <a:prstGeom prst="roundRect">
            <a:avLst>
              <a:gd name="adj" fmla="val 46667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9202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AGORA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896112" y="2286000"/>
            <a:ext cx="29169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Estabilizar o núcleo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294436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de produção verde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914400" y="3611880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353872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Ligar portal público às RPC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914400" y="4206240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413308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Numeração automática de encomendas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914400" y="4800600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47274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Buckets privados e testes de RLS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896112" y="5074920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Critério: fluxo público funcional em ambiente de ensaio.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4379976" y="1664208"/>
            <a:ext cx="3429000" cy="397764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36008" y="1874520"/>
            <a:ext cx="914400" cy="274320"/>
          </a:xfrm>
          <a:prstGeom prst="roundRect">
            <a:avLst>
              <a:gd name="adj" fmla="val 46667"/>
            </a:avLst>
          </a:prstGeom>
          <a:solidFill>
            <a:srgbClr val="4F46E5">
              <a:alpha val="15000"/>
            </a:srgbClr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36008" y="19202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SEGUIR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636008" y="2286000"/>
            <a:ext cx="29169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Fechar a experiência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54296" y="3017520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55464" y="294436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Estados com fotos e timeline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4654296" y="3611880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55464" y="353872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Recibos e certificados com marca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4654296" y="4206240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55464" y="413308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codes PNG/PDF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4654296" y="4800600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55464" y="47274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Visualizador 3D com fallback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4636008" y="5074920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Critério: documentos emitidos com a marca da oficina.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8119872" y="1664208"/>
            <a:ext cx="3429000" cy="397764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75904" y="1874520"/>
            <a:ext cx="914400" cy="274320"/>
          </a:xfrm>
          <a:prstGeom prst="roundRect">
            <a:avLst>
              <a:gd name="adj" fmla="val 46667"/>
            </a:avLst>
          </a:prstGeom>
          <a:solidFill>
            <a:srgbClr val="F59E0B">
              <a:alpha val="15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75904" y="19202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DEPOIS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8375904" y="2286000"/>
            <a:ext cx="29169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Escalar o negócio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394192" y="301752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0" y="294436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Notificações por email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8394192" y="361188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95360" y="353872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Pagamentos online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8394192" y="420624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95360" y="413308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Métricas e relatórios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8394192" y="480060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95360" y="47274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Integração com impressoras</a:t>
            </a:r>
            <a:endParaRPr lang="en-US" sz="920" dirty="0"/>
          </a:p>
        </p:txBody>
      </p:sp>
      <p:sp>
        <p:nvSpPr>
          <p:cNvPr id="46" name="Text 44"/>
          <p:cNvSpPr/>
          <p:nvPr/>
        </p:nvSpPr>
        <p:spPr>
          <a:xfrm>
            <a:off x="8375904" y="5074920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Critério: integrações validadas com clientes-piloto.</a:t>
            </a:r>
            <a:endParaRPr lang="en-US" sz="7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1097280"/>
            <a:ext cx="5943600" cy="5943600"/>
          </a:xfrm>
          <a:prstGeom prst="ellipse">
            <a:avLst/>
          </a:prstGeom>
          <a:solidFill>
            <a:srgbClr val="111C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-274320"/>
            <a:ext cx="4297680" cy="42976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4" name="Image 0" descr="C:\Users\devel\Downloads\Orbitdev\orbittrack\entrega\logo\orbittrack-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640080"/>
            <a:ext cx="3017520" cy="3017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173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PRÓXIMO PASSO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7132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demonstração com os dados da sua oficina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352044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Mostramos o painel e o percurso do comprador com dados de exemplo — em menos de 20 minutos.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4983480"/>
            <a:ext cx="658368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12064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Contacto a preencher pelo vendedor  ·  hello@orbittrack.pt (exemplo)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0080" y="5760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Obrigado.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OrbitTrack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OrbitTrack — Apresentação Comercial</dc:title>
  <dc:subject>Apresentação comercial</dc:subject>
  <dc:creator>OrbitTrack</dc:creator>
  <cp:lastModifiedBy>OrbitTrack</cp:lastModifiedBy>
  <cp:revision>1</cp:revision>
  <dcterms:created xsi:type="dcterms:W3CDTF">2026-10-27T04:17:41Z</dcterms:created>
  <dcterms:modified xsi:type="dcterms:W3CDTF">2026-10-27T04:17:41Z</dcterms:modified>
</cp:coreProperties>
</file>